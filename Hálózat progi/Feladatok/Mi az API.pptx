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2" r:id="rId3"/>
    <p:sldId id="257" r:id="rId4"/>
    <p:sldId id="258" r:id="rId5"/>
    <p:sldId id="259" r:id="rId6"/>
    <p:sldId id="260" r:id="rId7"/>
    <p:sldId id="261" r:id="rId8"/>
    <p:sldId id="263" r:id="rId9"/>
    <p:sldId id="264" r:id="rId10"/>
    <p:sldId id="265"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Kollektif" panose="020B0604020202020204" charset="0"/>
      <p:regular r:id="rId16"/>
    </p:embeddedFont>
    <p:embeddedFont>
      <p:font typeface="Kollektif Bold" panose="020B0604020202020204" charset="0"/>
      <p:regular r:id="rId17"/>
    </p:embeddedFont>
    <p:embeddedFont>
      <p:font typeface="Public Sans Bold" panose="020B0604020202020204" charset="-18"/>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126" y="10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072B"/>
        </a:solidFill>
        <a:effectLst/>
      </p:bgPr>
    </p:bg>
    <p:spTree>
      <p:nvGrpSpPr>
        <p:cNvPr id="1" name=""/>
        <p:cNvGrpSpPr/>
        <p:nvPr/>
      </p:nvGrpSpPr>
      <p:grpSpPr>
        <a:xfrm>
          <a:off x="0" y="0"/>
          <a:ext cx="0" cy="0"/>
          <a:chOff x="0" y="0"/>
          <a:chExt cx="0" cy="0"/>
        </a:xfrm>
      </p:grpSpPr>
      <p:sp>
        <p:nvSpPr>
          <p:cNvPr id="2" name="Freeform 2"/>
          <p:cNvSpPr/>
          <p:nvPr/>
        </p:nvSpPr>
        <p:spPr>
          <a:xfrm>
            <a:off x="11013827" y="-248630"/>
            <a:ext cx="8681329" cy="10784260"/>
          </a:xfrm>
          <a:custGeom>
            <a:avLst/>
            <a:gdLst/>
            <a:ahLst/>
            <a:cxnLst/>
            <a:rect l="l" t="t" r="r" b="b"/>
            <a:pathLst>
              <a:path w="8681329" h="10784260">
                <a:moveTo>
                  <a:pt x="0" y="0"/>
                </a:moveTo>
                <a:lnTo>
                  <a:pt x="8681329" y="0"/>
                </a:lnTo>
                <a:lnTo>
                  <a:pt x="8681329" y="10784260"/>
                </a:lnTo>
                <a:lnTo>
                  <a:pt x="0" y="107842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2835994"/>
            <a:ext cx="9657581" cy="2307506"/>
          </a:xfrm>
          <a:prstGeom prst="rect">
            <a:avLst/>
          </a:prstGeom>
        </p:spPr>
        <p:txBody>
          <a:bodyPr lIns="0" tIns="0" rIns="0" bIns="0" rtlCol="0" anchor="t">
            <a:spAutoFit/>
          </a:bodyPr>
          <a:lstStyle/>
          <a:p>
            <a:pPr algn="l">
              <a:lnSpc>
                <a:spcPts val="5809"/>
              </a:lnSpc>
            </a:pPr>
            <a:r>
              <a:rPr lang="en-US" sz="5280" b="1" spc="2624">
                <a:solidFill>
                  <a:srgbClr val="FFFFFF"/>
                </a:solidFill>
                <a:latin typeface="Kollektif Bold"/>
                <a:ea typeface="Kollektif Bold"/>
                <a:cs typeface="Kollektif Bold"/>
                <a:sym typeface="Kollektif Bold"/>
              </a:rPr>
              <a:t>HÁLÓZAT PROGRAMZÁS, IOT</a:t>
            </a:r>
          </a:p>
        </p:txBody>
      </p:sp>
      <p:sp>
        <p:nvSpPr>
          <p:cNvPr id="4" name="TextBox 4"/>
          <p:cNvSpPr txBox="1"/>
          <p:nvPr/>
        </p:nvSpPr>
        <p:spPr>
          <a:xfrm>
            <a:off x="960447" y="4854913"/>
            <a:ext cx="13695775" cy="2272548"/>
          </a:xfrm>
          <a:prstGeom prst="rect">
            <a:avLst/>
          </a:prstGeom>
        </p:spPr>
        <p:txBody>
          <a:bodyPr lIns="0" tIns="0" rIns="0" bIns="0" rtlCol="0" anchor="t">
            <a:spAutoFit/>
          </a:bodyPr>
          <a:lstStyle/>
          <a:p>
            <a:pPr algn="l">
              <a:lnSpc>
                <a:spcPts val="17427"/>
              </a:lnSpc>
            </a:pPr>
            <a:r>
              <a:rPr lang="en-US" sz="15842" b="1" spc="1695">
                <a:solidFill>
                  <a:srgbClr val="FFFFFF"/>
                </a:solidFill>
                <a:latin typeface="Public Sans Bold"/>
                <a:ea typeface="Public Sans Bold"/>
                <a:cs typeface="Public Sans Bold"/>
                <a:sym typeface="Public Sans Bold"/>
              </a:rPr>
              <a:t>MI AZ API?</a:t>
            </a:r>
          </a:p>
        </p:txBody>
      </p:sp>
      <p:sp>
        <p:nvSpPr>
          <p:cNvPr id="5" name="Freeform 5"/>
          <p:cNvSpPr/>
          <p:nvPr/>
        </p:nvSpPr>
        <p:spPr>
          <a:xfrm>
            <a:off x="-928092" y="7365586"/>
            <a:ext cx="12832964" cy="303325"/>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2695249" y="1536588"/>
            <a:ext cx="6873872" cy="162473"/>
          </a:xfrm>
          <a:custGeom>
            <a:avLst/>
            <a:gdLst/>
            <a:ahLst/>
            <a:cxnLst/>
            <a:rect l="l" t="t" r="r" b="b"/>
            <a:pathLst>
              <a:path w="6873872" h="162473">
                <a:moveTo>
                  <a:pt x="0" y="0"/>
                </a:moveTo>
                <a:lnTo>
                  <a:pt x="6873872" y="0"/>
                </a:lnTo>
                <a:lnTo>
                  <a:pt x="6873872" y="162474"/>
                </a:lnTo>
                <a:lnTo>
                  <a:pt x="0" y="1624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2130" y="2916521"/>
            <a:ext cx="13223740" cy="4159467"/>
          </a:xfrm>
          <a:custGeom>
            <a:avLst/>
            <a:gdLst/>
            <a:ahLst/>
            <a:cxnLst/>
            <a:rect l="l" t="t" r="r" b="b"/>
            <a:pathLst>
              <a:path w="13223740" h="4159467">
                <a:moveTo>
                  <a:pt x="0" y="0"/>
                </a:moveTo>
                <a:lnTo>
                  <a:pt x="13223740" y="0"/>
                </a:lnTo>
                <a:lnTo>
                  <a:pt x="13223740" y="4159467"/>
                </a:lnTo>
                <a:lnTo>
                  <a:pt x="0" y="4159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555475" y="3324300"/>
            <a:ext cx="11177051" cy="2275816"/>
          </a:xfrm>
          <a:prstGeom prst="rect">
            <a:avLst/>
          </a:prstGeom>
        </p:spPr>
        <p:txBody>
          <a:bodyPr lIns="0" tIns="0" rIns="0" bIns="0" rtlCol="0" anchor="t">
            <a:spAutoFit/>
          </a:bodyPr>
          <a:lstStyle/>
          <a:p>
            <a:pPr algn="ctr">
              <a:lnSpc>
                <a:spcPts val="3639"/>
              </a:lnSpc>
            </a:pPr>
            <a:r>
              <a:rPr lang="hu-HU" sz="2599" b="1" dirty="0">
                <a:solidFill>
                  <a:srgbClr val="FFFFFF"/>
                </a:solidFill>
                <a:latin typeface="Kollektif Bold"/>
                <a:ea typeface="Kollektif Bold"/>
                <a:cs typeface="Kollektif Bold"/>
                <a:sym typeface="Kollektif Bold"/>
              </a:rPr>
              <a:t>Az API-k szinte mindenhol megtalálhatók. Programozható hálózati automatizálás kiépítésére is használják őket. Egy olyan szabályrendszer, amely meghatározza, hogy az egyik alkalmazás miként léphet interakcióba egy másik alkalmazással, valamint az interakciót lehetővé tevő utasításokat is.</a:t>
            </a:r>
            <a:endParaRPr lang="en-US" sz="2599" b="1" dirty="0">
              <a:solidFill>
                <a:srgbClr val="FFFFFF"/>
              </a:solidFill>
              <a:latin typeface="Kollektif Bold"/>
              <a:ea typeface="Kollektif Bold"/>
              <a:cs typeface="Kollektif Bold"/>
              <a:sym typeface="Kollektif Bold"/>
            </a:endParaRPr>
          </a:p>
        </p:txBody>
      </p:sp>
      <p:sp>
        <p:nvSpPr>
          <p:cNvPr id="4" name="Freeform 4"/>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3038025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2130" y="2916521"/>
            <a:ext cx="13223740" cy="4159467"/>
          </a:xfrm>
          <a:custGeom>
            <a:avLst/>
            <a:gdLst/>
            <a:ahLst/>
            <a:cxnLst/>
            <a:rect l="l" t="t" r="r" b="b"/>
            <a:pathLst>
              <a:path w="13223740" h="4159467">
                <a:moveTo>
                  <a:pt x="0" y="0"/>
                </a:moveTo>
                <a:lnTo>
                  <a:pt x="13223740" y="0"/>
                </a:lnTo>
                <a:lnTo>
                  <a:pt x="13223740" y="4159467"/>
                </a:lnTo>
                <a:lnTo>
                  <a:pt x="0" y="4159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555475" y="3324300"/>
            <a:ext cx="11177051" cy="3239135"/>
          </a:xfrm>
          <a:prstGeom prst="rect">
            <a:avLst/>
          </a:prstGeom>
        </p:spPr>
        <p:txBody>
          <a:bodyPr lIns="0" tIns="0" rIns="0" bIns="0" rtlCol="0" anchor="t">
            <a:spAutoFit/>
          </a:bodyPr>
          <a:lstStyle/>
          <a:p>
            <a:pPr algn="ctr">
              <a:lnSpc>
                <a:spcPts val="3639"/>
              </a:lnSpc>
            </a:pPr>
            <a:r>
              <a:rPr lang="en-US" sz="2599" b="1">
                <a:solidFill>
                  <a:srgbClr val="FFFFFF"/>
                </a:solidFill>
                <a:latin typeface="Kollektif Bold"/>
                <a:ea typeface="Kollektif Bold"/>
                <a:cs typeface="Kollektif Bold"/>
                <a:sym typeface="Kollektif Bold"/>
              </a:rPr>
              <a:t>Az API-k gyors és egyszerű megközelítést jelentenek olyan alkalmazások létrehozására, amelyek másokhoz kapcsolódhatnak szolgáltatások. Az API-k olyan interfészek, amelyek lehetővé teszik a fejlesztők számára, hogy kiaknázzák programozási képességeiket egy nyelvet (Python), és bármilyen szolgáltatással használja őket. A Python népszerű API programozási nyelv magas szintű absztrakciója és erős könyvtára támogatása miatt.</a:t>
            </a:r>
          </a:p>
        </p:txBody>
      </p:sp>
      <p:sp>
        <p:nvSpPr>
          <p:cNvPr id="4" name="Freeform 4"/>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24613">
            <a:off x="-5549998" y="2053549"/>
            <a:ext cx="12287251" cy="10647531"/>
          </a:xfrm>
          <a:custGeom>
            <a:avLst/>
            <a:gdLst/>
            <a:ahLst/>
            <a:cxnLst/>
            <a:rect l="l" t="t" r="r" b="b"/>
            <a:pathLst>
              <a:path w="12287251" h="10647531">
                <a:moveTo>
                  <a:pt x="0" y="0"/>
                </a:moveTo>
                <a:lnTo>
                  <a:pt x="12287251" y="0"/>
                </a:lnTo>
                <a:lnTo>
                  <a:pt x="12287251" y="10647531"/>
                </a:lnTo>
                <a:lnTo>
                  <a:pt x="0" y="106475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8100000">
            <a:off x="4065520" y="11042565"/>
            <a:ext cx="9512725" cy="224846"/>
          </a:xfrm>
          <a:custGeom>
            <a:avLst/>
            <a:gdLst/>
            <a:ahLst/>
            <a:cxnLst/>
            <a:rect l="l" t="t" r="r" b="b"/>
            <a:pathLst>
              <a:path w="9512725" h="224846">
                <a:moveTo>
                  <a:pt x="0" y="0"/>
                </a:moveTo>
                <a:lnTo>
                  <a:pt x="9512725" y="0"/>
                </a:lnTo>
                <a:lnTo>
                  <a:pt x="9512725" y="224846"/>
                </a:lnTo>
                <a:lnTo>
                  <a:pt x="0" y="2248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10800000">
            <a:off x="10829501" y="3197605"/>
            <a:ext cx="5883071" cy="139054"/>
          </a:xfrm>
          <a:custGeom>
            <a:avLst/>
            <a:gdLst/>
            <a:ahLst/>
            <a:cxnLst/>
            <a:rect l="l" t="t" r="r" b="b"/>
            <a:pathLst>
              <a:path w="5883071" h="139054">
                <a:moveTo>
                  <a:pt x="0" y="0"/>
                </a:moveTo>
                <a:lnTo>
                  <a:pt x="5883072" y="0"/>
                </a:lnTo>
                <a:lnTo>
                  <a:pt x="5883072" y="139055"/>
                </a:lnTo>
                <a:lnTo>
                  <a:pt x="0" y="1390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8100000">
            <a:off x="5314326" y="11400541"/>
            <a:ext cx="9512725" cy="224846"/>
          </a:xfrm>
          <a:custGeom>
            <a:avLst/>
            <a:gdLst/>
            <a:ahLst/>
            <a:cxnLst/>
            <a:rect l="l" t="t" r="r" b="b"/>
            <a:pathLst>
              <a:path w="9512725" h="224846">
                <a:moveTo>
                  <a:pt x="0" y="0"/>
                </a:moveTo>
                <a:lnTo>
                  <a:pt x="9512725" y="0"/>
                </a:lnTo>
                <a:lnTo>
                  <a:pt x="9512725" y="224847"/>
                </a:lnTo>
                <a:lnTo>
                  <a:pt x="0" y="2248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78250" y="2896998"/>
            <a:ext cx="8601762" cy="5906543"/>
          </a:xfrm>
          <a:custGeom>
            <a:avLst/>
            <a:gdLst/>
            <a:ahLst/>
            <a:cxnLst/>
            <a:rect l="l" t="t" r="r" b="b"/>
            <a:pathLst>
              <a:path w="8601762" h="5906543">
                <a:moveTo>
                  <a:pt x="0" y="0"/>
                </a:moveTo>
                <a:lnTo>
                  <a:pt x="8601762" y="0"/>
                </a:lnTo>
                <a:lnTo>
                  <a:pt x="8601762" y="5906543"/>
                </a:lnTo>
                <a:lnTo>
                  <a:pt x="0" y="5906543"/>
                </a:lnTo>
                <a:lnTo>
                  <a:pt x="0" y="0"/>
                </a:lnTo>
                <a:close/>
              </a:path>
            </a:pathLst>
          </a:custGeom>
          <a:blipFill>
            <a:blip r:embed="rId8"/>
            <a:stretch>
              <a:fillRect/>
            </a:stretch>
          </a:blipFill>
        </p:spPr>
      </p:sp>
      <p:sp>
        <p:nvSpPr>
          <p:cNvPr id="9" name="TextBox 9"/>
          <p:cNvSpPr txBox="1"/>
          <p:nvPr/>
        </p:nvSpPr>
        <p:spPr>
          <a:xfrm>
            <a:off x="10867601" y="3438639"/>
            <a:ext cx="5806871" cy="6165850"/>
          </a:xfrm>
          <a:prstGeom prst="rect">
            <a:avLst/>
          </a:prstGeom>
        </p:spPr>
        <p:txBody>
          <a:bodyPr lIns="0" tIns="0" rIns="0" bIns="0" rtlCol="0" anchor="t">
            <a:spAutoFit/>
          </a:bodyPr>
          <a:lstStyle/>
          <a:p>
            <a:pPr algn="just">
              <a:lnSpc>
                <a:spcPts val="3499"/>
              </a:lnSpc>
            </a:pPr>
            <a:r>
              <a:rPr lang="en-US" sz="2499">
                <a:solidFill>
                  <a:srgbClr val="18072B"/>
                </a:solidFill>
                <a:latin typeface="Kollektif"/>
                <a:ea typeface="Kollektif"/>
                <a:cs typeface="Kollektif"/>
                <a:sym typeface="Kollektif"/>
              </a:rPr>
              <a:t>Az "API" kifejezés olyan rétegre vagy interfészre utal, amely lehetővé teszi két alkalmazás számára, hogy anélkül kommunikáljanak, hogy megértenék, hogyan működnek. Az API-k implementálhatók sokféle módon, de az alapötlet az, hogy az API-k egy absztrakciós réteget biztosítanak közöttük két szoftverkomponens. Az API-k lehetővé teszik a fejlesztők számára, hogy interfészt használjanak az új kód fejlesztése vagy tanulása helyett a új nyelv. Könnyen méretezhetők és használhatók az alkalmazások között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2130" y="4026501"/>
            <a:ext cx="13223740" cy="4159467"/>
          </a:xfrm>
          <a:custGeom>
            <a:avLst/>
            <a:gdLst/>
            <a:ahLst/>
            <a:cxnLst/>
            <a:rect l="l" t="t" r="r" b="b"/>
            <a:pathLst>
              <a:path w="13223740" h="4159467">
                <a:moveTo>
                  <a:pt x="0" y="0"/>
                </a:moveTo>
                <a:lnTo>
                  <a:pt x="13223740" y="0"/>
                </a:lnTo>
                <a:lnTo>
                  <a:pt x="13223740" y="4159467"/>
                </a:lnTo>
                <a:lnTo>
                  <a:pt x="0" y="4159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555475" y="5348680"/>
            <a:ext cx="11177051" cy="1410335"/>
          </a:xfrm>
          <a:prstGeom prst="rect">
            <a:avLst/>
          </a:prstGeom>
        </p:spPr>
        <p:txBody>
          <a:bodyPr lIns="0" tIns="0" rIns="0" bIns="0" rtlCol="0" anchor="t">
            <a:spAutoFit/>
          </a:bodyPr>
          <a:lstStyle/>
          <a:p>
            <a:pPr algn="ctr">
              <a:lnSpc>
                <a:spcPts val="3639"/>
              </a:lnSpc>
            </a:pPr>
            <a:r>
              <a:rPr lang="en-US" sz="2599" b="1">
                <a:solidFill>
                  <a:srgbClr val="FFFFFF"/>
                </a:solidFill>
                <a:latin typeface="Kollektif Bold"/>
                <a:ea typeface="Kollektif Bold"/>
                <a:cs typeface="Kollektif Bold"/>
                <a:sym typeface="Kollektif Bold"/>
              </a:rPr>
              <a:t>Az API olyan szabályok és protokollok összessége, amelyek lehetővé teszik a szoftveralkalmazások közötti kommunikációt. Az API határozza meg, hogy két alkalmazás hogyan kommunikálhat egymással.</a:t>
            </a:r>
          </a:p>
        </p:txBody>
      </p:sp>
      <p:sp>
        <p:nvSpPr>
          <p:cNvPr id="4" name="Freeform 4"/>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2130" y="4026501"/>
            <a:ext cx="13223740" cy="4159467"/>
          </a:xfrm>
          <a:custGeom>
            <a:avLst/>
            <a:gdLst/>
            <a:ahLst/>
            <a:cxnLst/>
            <a:rect l="l" t="t" r="r" b="b"/>
            <a:pathLst>
              <a:path w="13223740" h="4159467">
                <a:moveTo>
                  <a:pt x="0" y="0"/>
                </a:moveTo>
                <a:lnTo>
                  <a:pt x="13223740" y="0"/>
                </a:lnTo>
                <a:lnTo>
                  <a:pt x="13223740" y="4159467"/>
                </a:lnTo>
                <a:lnTo>
                  <a:pt x="0" y="4159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555475" y="4891480"/>
            <a:ext cx="11177051" cy="2324735"/>
          </a:xfrm>
          <a:prstGeom prst="rect">
            <a:avLst/>
          </a:prstGeom>
        </p:spPr>
        <p:txBody>
          <a:bodyPr lIns="0" tIns="0" rIns="0" bIns="0" rtlCol="0" anchor="t">
            <a:spAutoFit/>
          </a:bodyPr>
          <a:lstStyle/>
          <a:p>
            <a:pPr algn="ctr">
              <a:lnSpc>
                <a:spcPts val="3639"/>
              </a:lnSpc>
            </a:pPr>
            <a:r>
              <a:rPr lang="en-US" sz="2599" b="1">
                <a:solidFill>
                  <a:srgbClr val="FFFFFF"/>
                </a:solidFill>
                <a:latin typeface="Kollektif Bold"/>
                <a:ea typeface="Kollektif Bold"/>
                <a:cs typeface="Kollektif Bold"/>
                <a:sym typeface="Kollektif Bold"/>
              </a:rPr>
              <a:t>Ez egy olyan szabályrendszer, amely lehetővé teszi, hogy két szoftver beszéljen egymással. Az API célja, hogy időt, pénzt és erőforrásokat takarítson meg a már megírt kód újrafelhasználásával. Az API-knak számos különböző formája van. Néhányat úgy terveztek, hogy ember által olvasható legyen, míg másokat géppel olvashatóvá terveztek.</a:t>
            </a:r>
          </a:p>
        </p:txBody>
      </p:sp>
      <p:sp>
        <p:nvSpPr>
          <p:cNvPr id="4" name="Freeform 4"/>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24613">
            <a:off x="-5549998" y="2053549"/>
            <a:ext cx="12287251" cy="10647531"/>
          </a:xfrm>
          <a:custGeom>
            <a:avLst/>
            <a:gdLst/>
            <a:ahLst/>
            <a:cxnLst/>
            <a:rect l="l" t="t" r="r" b="b"/>
            <a:pathLst>
              <a:path w="12287251" h="10647531">
                <a:moveTo>
                  <a:pt x="0" y="0"/>
                </a:moveTo>
                <a:lnTo>
                  <a:pt x="12287251" y="0"/>
                </a:lnTo>
                <a:lnTo>
                  <a:pt x="12287251" y="10647531"/>
                </a:lnTo>
                <a:lnTo>
                  <a:pt x="0" y="106475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8100000">
            <a:off x="4065520" y="11042565"/>
            <a:ext cx="9512725" cy="224846"/>
          </a:xfrm>
          <a:custGeom>
            <a:avLst/>
            <a:gdLst/>
            <a:ahLst/>
            <a:cxnLst/>
            <a:rect l="l" t="t" r="r" b="b"/>
            <a:pathLst>
              <a:path w="9512725" h="224846">
                <a:moveTo>
                  <a:pt x="0" y="0"/>
                </a:moveTo>
                <a:lnTo>
                  <a:pt x="9512725" y="0"/>
                </a:lnTo>
                <a:lnTo>
                  <a:pt x="9512725" y="224846"/>
                </a:lnTo>
                <a:lnTo>
                  <a:pt x="0" y="2248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8100000">
            <a:off x="5314326" y="11400541"/>
            <a:ext cx="9512725" cy="224846"/>
          </a:xfrm>
          <a:custGeom>
            <a:avLst/>
            <a:gdLst/>
            <a:ahLst/>
            <a:cxnLst/>
            <a:rect l="l" t="t" r="r" b="b"/>
            <a:pathLst>
              <a:path w="9512725" h="224846">
                <a:moveTo>
                  <a:pt x="0" y="0"/>
                </a:moveTo>
                <a:lnTo>
                  <a:pt x="9512725" y="0"/>
                </a:lnTo>
                <a:lnTo>
                  <a:pt x="9512725" y="224847"/>
                </a:lnTo>
                <a:lnTo>
                  <a:pt x="0" y="2248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2395950" y="2376546"/>
            <a:ext cx="13496099" cy="5693667"/>
          </a:xfrm>
          <a:custGeom>
            <a:avLst/>
            <a:gdLst/>
            <a:ahLst/>
            <a:cxnLst/>
            <a:rect l="l" t="t" r="r" b="b"/>
            <a:pathLst>
              <a:path w="13496099" h="5693667">
                <a:moveTo>
                  <a:pt x="0" y="0"/>
                </a:moveTo>
                <a:lnTo>
                  <a:pt x="13496100" y="0"/>
                </a:lnTo>
                <a:lnTo>
                  <a:pt x="13496100" y="5693667"/>
                </a:lnTo>
                <a:lnTo>
                  <a:pt x="0" y="5693667"/>
                </a:lnTo>
                <a:lnTo>
                  <a:pt x="0" y="0"/>
                </a:lnTo>
                <a:close/>
              </a:path>
            </a:pathLst>
          </a:custGeom>
          <a:blipFill>
            <a:blip r:embed="rId8"/>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2130" y="4026501"/>
            <a:ext cx="13223740" cy="4159467"/>
          </a:xfrm>
          <a:custGeom>
            <a:avLst/>
            <a:gdLst/>
            <a:ahLst/>
            <a:cxnLst/>
            <a:rect l="l" t="t" r="r" b="b"/>
            <a:pathLst>
              <a:path w="13223740" h="4159467">
                <a:moveTo>
                  <a:pt x="0" y="0"/>
                </a:moveTo>
                <a:lnTo>
                  <a:pt x="13223740" y="0"/>
                </a:lnTo>
                <a:lnTo>
                  <a:pt x="13223740" y="4159467"/>
                </a:lnTo>
                <a:lnTo>
                  <a:pt x="0" y="4159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352800" y="4285447"/>
            <a:ext cx="11177051" cy="3641574"/>
          </a:xfrm>
          <a:prstGeom prst="rect">
            <a:avLst/>
          </a:prstGeom>
        </p:spPr>
        <p:txBody>
          <a:bodyPr lIns="0" tIns="0" rIns="0" bIns="0" rtlCol="0" anchor="t">
            <a:spAutoFit/>
          </a:bodyPr>
          <a:lstStyle/>
          <a:p>
            <a:pPr algn="ctr">
              <a:lnSpc>
                <a:spcPts val="3639"/>
              </a:lnSpc>
            </a:pPr>
            <a:r>
              <a:rPr lang="hu-HU" sz="3000" b="1" dirty="0">
                <a:solidFill>
                  <a:srgbClr val="FFFFFF"/>
                </a:solidFill>
                <a:latin typeface="Kollektif Bold"/>
                <a:ea typeface="Kollektif Bold"/>
                <a:cs typeface="Kollektif Bold"/>
                <a:sym typeface="Kollektif Bold"/>
              </a:rPr>
              <a:t>Nyílt API-k vagy nyilvános API-k</a:t>
            </a:r>
          </a:p>
          <a:p>
            <a:pPr algn="ctr">
              <a:lnSpc>
                <a:spcPts val="3639"/>
              </a:lnSpc>
            </a:pPr>
            <a:r>
              <a:rPr lang="en-US" sz="2599" b="1" dirty="0" err="1">
                <a:solidFill>
                  <a:srgbClr val="FFFFFF"/>
                </a:solidFill>
                <a:latin typeface="Kollektif Bold"/>
                <a:ea typeface="Kollektif Bold"/>
                <a:cs typeface="Kollektif Bold"/>
                <a:sym typeface="Kollektif Bold"/>
              </a:rPr>
              <a:t>Ezek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az</a:t>
            </a:r>
            <a:r>
              <a:rPr lang="en-US" sz="2599" b="1" dirty="0">
                <a:solidFill>
                  <a:srgbClr val="FFFFFF"/>
                </a:solidFill>
                <a:latin typeface="Kollektif Bold"/>
                <a:ea typeface="Kollektif Bold"/>
                <a:cs typeface="Kollektif Bold"/>
                <a:sym typeface="Kollektif Bold"/>
              </a:rPr>
              <a:t> API-k </a:t>
            </a:r>
            <a:r>
              <a:rPr lang="en-US" sz="2599" b="1" dirty="0" err="1">
                <a:solidFill>
                  <a:srgbClr val="FFFFFF"/>
                </a:solidFill>
                <a:latin typeface="Kollektif Bold"/>
                <a:ea typeface="Kollektif Bold"/>
                <a:cs typeface="Kollektif Bold"/>
                <a:sym typeface="Kollektif Bold"/>
              </a:rPr>
              <a:t>nyilvánosan</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elérhetők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és</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korlátozás</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nélkül</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használhatók</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Nemzetközi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Űrállomás</a:t>
            </a:r>
            <a:r>
              <a:rPr lang="en-US" sz="2599" b="1" dirty="0">
                <a:solidFill>
                  <a:srgbClr val="FFFFFF"/>
                </a:solidFill>
                <a:latin typeface="Kollektif Bold"/>
                <a:ea typeface="Kollektif Bold"/>
                <a:cs typeface="Kollektif Bold"/>
                <a:sym typeface="Kollektif Bold"/>
              </a:rPr>
              <a:t> API-ja </a:t>
            </a:r>
            <a:r>
              <a:rPr lang="en-US" sz="2599" b="1" dirty="0" err="1">
                <a:solidFill>
                  <a:srgbClr val="FFFFFF"/>
                </a:solidFill>
                <a:latin typeface="Kollektif Bold"/>
                <a:ea typeface="Kollektif Bold"/>
                <a:cs typeface="Kollektif Bold"/>
                <a:sym typeface="Kollektif Bold"/>
              </a:rPr>
              <a:t>egy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példa</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nyilvános</a:t>
            </a:r>
            <a:r>
              <a:rPr lang="en-US" sz="2599" b="1" dirty="0">
                <a:solidFill>
                  <a:srgbClr val="FFFFFF"/>
                </a:solidFill>
                <a:latin typeface="Kollektif Bold"/>
                <a:ea typeface="Kollektif Bold"/>
                <a:cs typeface="Kollektif Bold"/>
                <a:sym typeface="Kollektif Bold"/>
              </a:rPr>
              <a:t> API-</a:t>
            </a:r>
            <a:r>
              <a:rPr lang="en-US" sz="2599" b="1" dirty="0" err="1">
                <a:solidFill>
                  <a:srgbClr val="FFFFFF"/>
                </a:solidFill>
                <a:latin typeface="Kollektif Bold"/>
                <a:ea typeface="Kollektif Bold"/>
                <a:cs typeface="Kollektif Bold"/>
                <a:sym typeface="Kollektif Bold"/>
              </a:rPr>
              <a:t>kra</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Mivel</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ezek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az</a:t>
            </a:r>
            <a:r>
              <a:rPr lang="en-US" sz="2599" b="1" dirty="0">
                <a:solidFill>
                  <a:srgbClr val="FFFFFF"/>
                </a:solidFill>
                <a:latin typeface="Kollektif Bold"/>
                <a:ea typeface="Kollektif Bold"/>
                <a:cs typeface="Kollektif Bold"/>
                <a:sym typeface="Kollektif Bold"/>
              </a:rPr>
              <a:t> API-k </a:t>
            </a:r>
            <a:r>
              <a:rPr lang="en-US" sz="2599" b="1" dirty="0" err="1">
                <a:solidFill>
                  <a:srgbClr val="FFFFFF"/>
                </a:solidFill>
                <a:latin typeface="Kollektif Bold"/>
                <a:ea typeface="Kollektif Bold"/>
                <a:cs typeface="Kollektif Bold"/>
                <a:sym typeface="Kollektif Bold"/>
              </a:rPr>
              <a:t>nyilvánosak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sok</a:t>
            </a:r>
            <a:r>
              <a:rPr lang="en-US" sz="2599" b="1" dirty="0">
                <a:solidFill>
                  <a:srgbClr val="FFFFFF"/>
                </a:solidFill>
                <a:latin typeface="Kollektif Bold"/>
                <a:ea typeface="Kollektif Bold"/>
                <a:cs typeface="Kollektif Bold"/>
                <a:sym typeface="Kollektif Bold"/>
              </a:rPr>
              <a:t> API-</a:t>
            </a:r>
            <a:r>
              <a:rPr lang="en-US" sz="2599" b="1" dirty="0" err="1">
                <a:solidFill>
                  <a:srgbClr val="FFFFFF"/>
                </a:solidFill>
                <a:latin typeface="Kollektif Bold"/>
                <a:ea typeface="Kollektif Bold"/>
                <a:cs typeface="Kollektif Bold"/>
                <a:sym typeface="Kollektif Bold"/>
              </a:rPr>
              <a:t>szolgáltató</a:t>
            </a:r>
            <a:r>
              <a:rPr lang="en-US" sz="2599" b="1" dirty="0">
                <a:solidFill>
                  <a:srgbClr val="FFFFFF"/>
                </a:solidFill>
                <a:latin typeface="Kollektif Bold"/>
                <a:ea typeface="Kollektif Bold"/>
                <a:cs typeface="Kollektif Bold"/>
                <a:sym typeface="Kollektif Bold"/>
              </a:rPr>
              <a:t> (pl.: a Google </a:t>
            </a:r>
            <a:r>
              <a:rPr lang="en-US" sz="2599" b="1" dirty="0" err="1">
                <a:solidFill>
                  <a:srgbClr val="FFFFFF"/>
                </a:solidFill>
                <a:latin typeface="Kollektif Bold"/>
                <a:ea typeface="Kollektif Bold"/>
                <a:cs typeface="Kollektif Bold"/>
                <a:sym typeface="Kollektif Bold"/>
              </a:rPr>
              <a:t>Térkép</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megköveteli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hogy</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felhasználó</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ingyenes</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kulcsot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vagy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tokent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szerezzen</a:t>
            </a:r>
            <a:r>
              <a:rPr lang="en-US" sz="2599" b="1" dirty="0">
                <a:solidFill>
                  <a:srgbClr val="FFFFFF"/>
                </a:solidFill>
                <a:latin typeface="Kollektif Bold"/>
                <a:ea typeface="Kollektif Bold"/>
                <a:cs typeface="Kollektif Bold"/>
                <a:sym typeface="Kollektif Bold"/>
              </a:rPr>
              <a:t> be </a:t>
            </a:r>
            <a:r>
              <a:rPr lang="en-US" sz="2599" b="1" dirty="0" err="1">
                <a:solidFill>
                  <a:srgbClr val="FFFFFF"/>
                </a:solidFill>
                <a:latin typeface="Kollektif Bold"/>
                <a:ea typeface="Kollektif Bold"/>
                <a:cs typeface="Kollektif Bold"/>
                <a:sym typeface="Kollektif Bold"/>
              </a:rPr>
              <a:t>az</a:t>
            </a:r>
            <a:r>
              <a:rPr lang="en-US" sz="2599" b="1" dirty="0">
                <a:solidFill>
                  <a:srgbClr val="FFFFFF"/>
                </a:solidFill>
                <a:latin typeface="Kollektif Bold"/>
                <a:ea typeface="Kollektif Bold"/>
                <a:cs typeface="Kollektif Bold"/>
                <a:sym typeface="Kollektif Bold"/>
              </a:rPr>
              <a:t> API </a:t>
            </a:r>
            <a:r>
              <a:rPr lang="en-US" sz="2599" b="1" dirty="0" err="1">
                <a:solidFill>
                  <a:srgbClr val="FFFFFF"/>
                </a:solidFill>
                <a:latin typeface="Kollektif Bold"/>
                <a:ea typeface="Kollektif Bold"/>
                <a:cs typeface="Kollektif Bold"/>
                <a:sym typeface="Kollektif Bold"/>
              </a:rPr>
              <a:t>használata</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előtt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Ez</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segít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szabályozni</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kapott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és</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feldolgozott</a:t>
            </a:r>
            <a:r>
              <a:rPr lang="en-US" sz="2599" b="1" dirty="0">
                <a:solidFill>
                  <a:srgbClr val="FFFFFF"/>
                </a:solidFill>
                <a:latin typeface="Kollektif Bold"/>
                <a:ea typeface="Kollektif Bold"/>
                <a:cs typeface="Kollektif Bold"/>
                <a:sym typeface="Kollektif Bold"/>
              </a:rPr>
              <a:t> API-</a:t>
            </a:r>
            <a:r>
              <a:rPr lang="en-US" sz="2599" b="1" dirty="0" err="1">
                <a:solidFill>
                  <a:srgbClr val="FFFFFF"/>
                </a:solidFill>
                <a:latin typeface="Kollektif Bold"/>
                <a:ea typeface="Kollektif Bold"/>
                <a:cs typeface="Kollektif Bold"/>
                <a:sym typeface="Kollektif Bold"/>
              </a:rPr>
              <a:t>kérések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számát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Keressünk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rá</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az</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interneten</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nyilvános</a:t>
            </a:r>
            <a:r>
              <a:rPr lang="en-US" sz="2599" b="1" dirty="0">
                <a:solidFill>
                  <a:srgbClr val="FFFFFF"/>
                </a:solidFill>
                <a:latin typeface="Kollektif Bold"/>
                <a:ea typeface="Kollektif Bold"/>
                <a:cs typeface="Kollektif Bold"/>
                <a:sym typeface="Kollektif Bold"/>
              </a:rPr>
              <a:t> API-k </a:t>
            </a:r>
            <a:r>
              <a:rPr lang="en-US" sz="2599" b="1" dirty="0" err="1">
                <a:solidFill>
                  <a:srgbClr val="FFFFFF"/>
                </a:solidFill>
                <a:latin typeface="Kollektif Bold"/>
                <a:ea typeface="Kollektif Bold"/>
                <a:cs typeface="Kollektif Bold"/>
                <a:sym typeface="Kollektif Bold"/>
              </a:rPr>
              <a:t>listájára</a:t>
            </a:r>
            <a:r>
              <a:rPr lang="en-US" sz="2599" b="1" dirty="0">
                <a:solidFill>
                  <a:srgbClr val="FFFFFF"/>
                </a:solidFill>
                <a:latin typeface="Kollektif Bold"/>
                <a:ea typeface="Kollektif Bold"/>
                <a:cs typeface="Kollektif Bold"/>
                <a:sym typeface="Kollektif Bold"/>
              </a:rPr>
              <a:t>.</a:t>
            </a:r>
          </a:p>
        </p:txBody>
      </p:sp>
      <p:sp>
        <p:nvSpPr>
          <p:cNvPr id="4" name="Freeform 4"/>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105141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2130" y="4026501"/>
            <a:ext cx="13223740" cy="4159467"/>
          </a:xfrm>
          <a:custGeom>
            <a:avLst/>
            <a:gdLst/>
            <a:ahLst/>
            <a:cxnLst/>
            <a:rect l="l" t="t" r="r" b="b"/>
            <a:pathLst>
              <a:path w="13223740" h="4159467">
                <a:moveTo>
                  <a:pt x="0" y="0"/>
                </a:moveTo>
                <a:lnTo>
                  <a:pt x="13223740" y="0"/>
                </a:lnTo>
                <a:lnTo>
                  <a:pt x="13223740" y="4159467"/>
                </a:lnTo>
                <a:lnTo>
                  <a:pt x="0" y="4159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352800" y="4285447"/>
            <a:ext cx="11177051" cy="2718245"/>
          </a:xfrm>
          <a:prstGeom prst="rect">
            <a:avLst/>
          </a:prstGeom>
        </p:spPr>
        <p:txBody>
          <a:bodyPr lIns="0" tIns="0" rIns="0" bIns="0" rtlCol="0" anchor="t">
            <a:spAutoFit/>
          </a:bodyPr>
          <a:lstStyle/>
          <a:p>
            <a:pPr algn="ctr">
              <a:lnSpc>
                <a:spcPts val="3639"/>
              </a:lnSpc>
            </a:pPr>
            <a:r>
              <a:rPr lang="hu-HU" sz="3000" b="1" dirty="0">
                <a:solidFill>
                  <a:srgbClr val="FFFFFF"/>
                </a:solidFill>
                <a:latin typeface="Kollektif Bold"/>
                <a:ea typeface="Kollektif Bold"/>
                <a:cs typeface="Kollektif Bold"/>
                <a:sym typeface="Kollektif Bold"/>
              </a:rPr>
              <a:t>Belső vagy privát API-k</a:t>
            </a:r>
          </a:p>
          <a:p>
            <a:pPr algn="ctr">
              <a:lnSpc>
                <a:spcPts val="3639"/>
              </a:lnSpc>
            </a:pPr>
            <a:r>
              <a:rPr lang="en-US" sz="2599" b="1" dirty="0" err="1">
                <a:solidFill>
                  <a:srgbClr val="FFFFFF"/>
                </a:solidFill>
                <a:latin typeface="Kollektif Bold"/>
                <a:ea typeface="Kollektif Bold"/>
                <a:cs typeface="Kollektif Bold"/>
                <a:sym typeface="Kollektif Bold"/>
              </a:rPr>
              <a:t>Ezek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olyan</a:t>
            </a:r>
            <a:r>
              <a:rPr lang="en-US" sz="2599" b="1" dirty="0">
                <a:solidFill>
                  <a:srgbClr val="FFFFFF"/>
                </a:solidFill>
                <a:latin typeface="Kollektif Bold"/>
                <a:ea typeface="Kollektif Bold"/>
                <a:cs typeface="Kollektif Bold"/>
                <a:sym typeface="Kollektif Bold"/>
              </a:rPr>
              <a:t> API-k, </a:t>
            </a:r>
            <a:r>
              <a:rPr lang="en-US" sz="2599" b="1" dirty="0" err="1">
                <a:solidFill>
                  <a:srgbClr val="FFFFFF"/>
                </a:solidFill>
                <a:latin typeface="Kollektif Bold"/>
                <a:ea typeface="Kollektif Bold"/>
                <a:cs typeface="Kollektif Bold"/>
                <a:sym typeface="Kollektif Bold"/>
              </a:rPr>
              <a:t>amelyeket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szervezet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vagy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vállalat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kizárólag</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belső</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használatú</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adatok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és</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szolgáltatások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elérésére</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használ</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belső</a:t>
            </a:r>
            <a:r>
              <a:rPr lang="en-US" sz="2599" b="1" dirty="0">
                <a:solidFill>
                  <a:srgbClr val="FFFFFF"/>
                </a:solidFill>
                <a:latin typeface="Kollektif Bold"/>
                <a:ea typeface="Kollektif Bold"/>
                <a:cs typeface="Kollektif Bold"/>
                <a:sym typeface="Kollektif Bold"/>
              </a:rPr>
              <a:t> API-ra </a:t>
            </a:r>
            <a:r>
              <a:rPr lang="en-US" sz="2599" b="1" dirty="0" err="1">
                <a:solidFill>
                  <a:srgbClr val="FFFFFF"/>
                </a:solidFill>
                <a:latin typeface="Kollektif Bold"/>
                <a:ea typeface="Kollektif Bold"/>
                <a:cs typeface="Kollektif Bold"/>
                <a:sym typeface="Kollektif Bold"/>
              </a:rPr>
              <a:t>példa</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hogy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az</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engedéllyel</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rendelkező</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értékesítőknek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hozzáférést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biztosítunk</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belső</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értékesítési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adatokhoz</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mobilkészülékeiken</a:t>
            </a:r>
            <a:r>
              <a:rPr lang="en-US" sz="2599" b="1" dirty="0">
                <a:solidFill>
                  <a:srgbClr val="FFFFFF"/>
                </a:solidFill>
                <a:latin typeface="Kollektif Bold"/>
                <a:ea typeface="Kollektif Bold"/>
                <a:cs typeface="Kollektif Bold"/>
                <a:sym typeface="Kollektif Bold"/>
              </a:rPr>
              <a:t>.</a:t>
            </a:r>
          </a:p>
        </p:txBody>
      </p:sp>
      <p:sp>
        <p:nvSpPr>
          <p:cNvPr id="4" name="Freeform 4"/>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837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2130" y="4026501"/>
            <a:ext cx="13223740" cy="4159467"/>
          </a:xfrm>
          <a:custGeom>
            <a:avLst/>
            <a:gdLst/>
            <a:ahLst/>
            <a:cxnLst/>
            <a:rect l="l" t="t" r="r" b="b"/>
            <a:pathLst>
              <a:path w="13223740" h="4159467">
                <a:moveTo>
                  <a:pt x="0" y="0"/>
                </a:moveTo>
                <a:lnTo>
                  <a:pt x="13223740" y="0"/>
                </a:lnTo>
                <a:lnTo>
                  <a:pt x="13223740" y="4159467"/>
                </a:lnTo>
                <a:lnTo>
                  <a:pt x="0" y="4159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555474" y="4285447"/>
            <a:ext cx="11177051" cy="2718245"/>
          </a:xfrm>
          <a:prstGeom prst="rect">
            <a:avLst/>
          </a:prstGeom>
        </p:spPr>
        <p:txBody>
          <a:bodyPr lIns="0" tIns="0" rIns="0" bIns="0" rtlCol="0" anchor="t">
            <a:spAutoFit/>
          </a:bodyPr>
          <a:lstStyle/>
          <a:p>
            <a:pPr algn="ctr">
              <a:lnSpc>
                <a:spcPts val="3639"/>
              </a:lnSpc>
            </a:pPr>
            <a:r>
              <a:rPr lang="hu-HU" sz="3000" b="1" dirty="0">
                <a:solidFill>
                  <a:srgbClr val="FFFFFF"/>
                </a:solidFill>
                <a:latin typeface="Kollektif Bold"/>
                <a:ea typeface="Kollektif Bold"/>
                <a:cs typeface="Kollektif Bold"/>
                <a:sym typeface="Kollektif Bold"/>
              </a:rPr>
              <a:t>Partner API-k</a:t>
            </a:r>
          </a:p>
          <a:p>
            <a:pPr algn="ctr">
              <a:lnSpc>
                <a:spcPts val="3639"/>
              </a:lnSpc>
            </a:pPr>
            <a:r>
              <a:rPr lang="en-US" sz="2599" b="1" dirty="0" err="1">
                <a:solidFill>
                  <a:srgbClr val="FFFFFF"/>
                </a:solidFill>
                <a:latin typeface="Kollektif Bold"/>
                <a:ea typeface="Kollektif Bold"/>
                <a:cs typeface="Kollektif Bold"/>
                <a:sym typeface="Kollektif Bold"/>
              </a:rPr>
              <a:t>Ezek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olyan</a:t>
            </a:r>
            <a:r>
              <a:rPr lang="en-US" sz="2599" b="1" dirty="0">
                <a:solidFill>
                  <a:srgbClr val="FFFFFF"/>
                </a:solidFill>
                <a:latin typeface="Kollektif Bold"/>
                <a:ea typeface="Kollektif Bold"/>
                <a:cs typeface="Kollektif Bold"/>
                <a:sym typeface="Kollektif Bold"/>
              </a:rPr>
              <a:t> API-k, </a:t>
            </a:r>
            <a:r>
              <a:rPr lang="en-US" sz="2599" b="1" dirty="0" err="1">
                <a:solidFill>
                  <a:srgbClr val="FFFFFF"/>
                </a:solidFill>
                <a:latin typeface="Kollektif Bold"/>
                <a:ea typeface="Kollektif Bold"/>
                <a:cs typeface="Kollektif Bold"/>
                <a:sym typeface="Kollektif Bold"/>
              </a:rPr>
              <a:t>amelyeket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vállalat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és</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üzleti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partnerei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vagy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vállalkozói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használnak</a:t>
            </a:r>
            <a:r>
              <a:rPr lang="en-US" sz="2599" b="1" dirty="0">
                <a:solidFill>
                  <a:srgbClr val="FFFFFF"/>
                </a:solidFill>
                <a:latin typeface="Kollektif Bold"/>
                <a:ea typeface="Kollektif Bold"/>
                <a:cs typeface="Kollektif Bold"/>
                <a:sym typeface="Kollektif Bold"/>
              </a:rPr>
              <a:t> a </a:t>
            </a:r>
            <a:r>
              <a:rPr lang="en-US" sz="2599" b="1" dirty="0" err="1">
                <a:solidFill>
                  <a:srgbClr val="FFFFFF"/>
                </a:solidFill>
                <a:latin typeface="Kollektif Bold"/>
                <a:ea typeface="Kollektif Bold"/>
                <a:cs typeface="Kollektif Bold"/>
                <a:sym typeface="Kollektif Bold"/>
              </a:rPr>
              <a:t>köztük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lévő</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üzleti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kapcsolatok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elősegítésére</a:t>
            </a:r>
            <a:r>
              <a:rPr lang="en-US" sz="2599" b="1" dirty="0">
                <a:solidFill>
                  <a:srgbClr val="FFFFFF"/>
                </a:solidFill>
                <a:latin typeface="Kollektif Bold"/>
                <a:ea typeface="Kollektif Bold"/>
                <a:cs typeface="Kollektif Bold"/>
                <a:sym typeface="Kollektif Bold"/>
              </a:rPr>
              <a:t>. Az </a:t>
            </a:r>
            <a:r>
              <a:rPr lang="en-US" sz="2599" b="1" dirty="0" err="1">
                <a:solidFill>
                  <a:srgbClr val="FFFFFF"/>
                </a:solidFill>
                <a:latin typeface="Kollektif Bold"/>
                <a:ea typeface="Kollektif Bold"/>
                <a:cs typeface="Kollektif Bold"/>
                <a:sym typeface="Kollektif Bold"/>
              </a:rPr>
              <a:t>üzleti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partnernek</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licenccel</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vagy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egyéb</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engedéllyel</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kell</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rendelkeznie</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az</a:t>
            </a:r>
            <a:r>
              <a:rPr lang="en-US" sz="2599" b="1" dirty="0">
                <a:solidFill>
                  <a:srgbClr val="FFFFFF"/>
                </a:solidFill>
                <a:latin typeface="Kollektif Bold"/>
                <a:ea typeface="Kollektif Bold"/>
                <a:cs typeface="Kollektif Bold"/>
                <a:sym typeface="Kollektif Bold"/>
              </a:rPr>
              <a:t> API </a:t>
            </a:r>
            <a:r>
              <a:rPr lang="en-US" sz="2599" b="1" dirty="0" err="1">
                <a:solidFill>
                  <a:srgbClr val="FFFFFF"/>
                </a:solidFill>
                <a:latin typeface="Kollektif Bold"/>
                <a:ea typeface="Kollektif Bold"/>
                <a:cs typeface="Kollektif Bold"/>
                <a:sym typeface="Kollektif Bold"/>
              </a:rPr>
              <a:t>használatához</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légitársaság</a:t>
            </a:r>
            <a:r>
              <a:rPr lang="en-US" sz="2599" b="1" dirty="0">
                <a:solidFill>
                  <a:srgbClr val="FFFFFF"/>
                </a:solidFill>
                <a:latin typeface="Kollektif Bold"/>
                <a:ea typeface="Kollektif Bold"/>
                <a:cs typeface="Kollektif Bold"/>
                <a:sym typeface="Kollektif Bold"/>
              </a:rPr>
              <a:t> API-</a:t>
            </a:r>
            <a:r>
              <a:rPr lang="en-US" sz="2599" b="1" dirty="0" err="1">
                <a:solidFill>
                  <a:srgbClr val="FFFFFF"/>
                </a:solidFill>
                <a:latin typeface="Kollektif Bold"/>
                <a:ea typeface="Kollektif Bold"/>
                <a:cs typeface="Kollektif Bold"/>
                <a:sym typeface="Kollektif Bold"/>
              </a:rPr>
              <a:t>ját</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használó</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utazási</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szolgáltatás</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egy</a:t>
            </a:r>
            <a:r>
              <a:rPr lang="en-US" sz="2599" b="1" dirty="0">
                <a:solidFill>
                  <a:srgbClr val="FFFFFF"/>
                </a:solidFill>
                <a:latin typeface="Kollektif Bold"/>
                <a:ea typeface="Kollektif Bold"/>
                <a:cs typeface="Kollektif Bold"/>
                <a:sym typeface="Kollektif Bold"/>
              </a:rPr>
              <a:t> </a:t>
            </a:r>
            <a:r>
              <a:rPr lang="en-US" sz="2599" b="1" dirty="0" err="1">
                <a:solidFill>
                  <a:srgbClr val="FFFFFF"/>
                </a:solidFill>
                <a:latin typeface="Kollektif Bold"/>
                <a:ea typeface="Kollektif Bold"/>
                <a:cs typeface="Kollektif Bold"/>
                <a:sym typeface="Kollektif Bold"/>
              </a:rPr>
              <a:t>példa</a:t>
            </a:r>
            <a:r>
              <a:rPr lang="en-US" sz="2599" b="1" dirty="0">
                <a:solidFill>
                  <a:srgbClr val="FFFFFF"/>
                </a:solidFill>
                <a:latin typeface="Kollektif Bold"/>
                <a:ea typeface="Kollektif Bold"/>
                <a:cs typeface="Kollektif Bold"/>
                <a:sym typeface="Kollektif Bold"/>
              </a:rPr>
              <a:t> a partner API-ra.</a:t>
            </a:r>
          </a:p>
        </p:txBody>
      </p:sp>
      <p:sp>
        <p:nvSpPr>
          <p:cNvPr id="4" name="Freeform 4"/>
          <p:cNvSpPr/>
          <p:nvPr/>
        </p:nvSpPr>
        <p:spPr>
          <a:xfrm>
            <a:off x="17192315" y="612415"/>
            <a:ext cx="559181" cy="296366"/>
          </a:xfrm>
          <a:custGeom>
            <a:avLst/>
            <a:gdLst/>
            <a:ahLst/>
            <a:cxnLst/>
            <a:rect l="l" t="t" r="r" b="b"/>
            <a:pathLst>
              <a:path w="559181" h="296366">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843309" y="1268486"/>
            <a:ext cx="6873872" cy="162473"/>
          </a:xfrm>
          <a:custGeom>
            <a:avLst/>
            <a:gdLst/>
            <a:ahLst/>
            <a:cxnLst/>
            <a:rect l="l" t="t" r="r" b="b"/>
            <a:pathLst>
              <a:path w="6873872" h="162473">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434077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um" ma:contentTypeID="0x0101008CD6A43D1B78454A8980CCF5954A2BE0" ma:contentTypeVersion="3" ma:contentTypeDescription="Új dokumentum létrehozása." ma:contentTypeScope="" ma:versionID="d07bf726a49f02e297566dc9cdb0045a">
  <xsd:schema xmlns:xsd="http://www.w3.org/2001/XMLSchema" xmlns:xs="http://www.w3.org/2001/XMLSchema" xmlns:p="http://schemas.microsoft.com/office/2006/metadata/properties" xmlns:ns2="c7a805f4-7089-4131-884d-03a939649389" targetNamespace="http://schemas.microsoft.com/office/2006/metadata/properties" ma:root="true" ma:fieldsID="290266b177e25df8e6a420fd8dee7058" ns2:_="">
    <xsd:import namespace="c7a805f4-7089-4131-884d-03a93964938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a805f4-7089-4131-884d-03a9396493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6FA443-8A24-495A-8E3F-C89111B2D077}"/>
</file>

<file path=customXml/itemProps2.xml><?xml version="1.0" encoding="utf-8"?>
<ds:datastoreItem xmlns:ds="http://schemas.openxmlformats.org/officeDocument/2006/customXml" ds:itemID="{FA4DDE9E-E0C3-43FC-BA44-A0FB33BC3FA0}"/>
</file>

<file path=customXml/itemProps3.xml><?xml version="1.0" encoding="utf-8"?>
<ds:datastoreItem xmlns:ds="http://schemas.openxmlformats.org/officeDocument/2006/customXml" ds:itemID="{AA635EEE-39D7-41CD-B20B-CFA0050639D9}"/>
</file>

<file path=docProps/app.xml><?xml version="1.0" encoding="utf-8"?>
<Properties xmlns="http://schemas.openxmlformats.org/officeDocument/2006/extended-properties" xmlns:vt="http://schemas.openxmlformats.org/officeDocument/2006/docPropsVTypes">
  <TotalTime>0</TotalTime>
  <Words>433</Words>
  <Application>Microsoft Office PowerPoint</Application>
  <PresentationFormat>Egyéni</PresentationFormat>
  <Paragraphs>13</Paragraphs>
  <Slides>10</Slides>
  <Notes>0</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10</vt:i4>
      </vt:variant>
    </vt:vector>
  </HeadingPairs>
  <TitlesOfParts>
    <vt:vector size="16" baseType="lpstr">
      <vt:lpstr>Public Sans Bold</vt:lpstr>
      <vt:lpstr>Arial</vt:lpstr>
      <vt:lpstr>Kollektif Bold</vt:lpstr>
      <vt:lpstr>Kollektif</vt:lpstr>
      <vt:lpstr>Calibri</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 az API?</dc:title>
  <cp:lastModifiedBy>Krisztina Jankó</cp:lastModifiedBy>
  <cp:revision>2</cp:revision>
  <dcterms:created xsi:type="dcterms:W3CDTF">2006-08-16T00:00:00Z</dcterms:created>
  <dcterms:modified xsi:type="dcterms:W3CDTF">2025-10-06T07:06:02Z</dcterms:modified>
  <dc:identifier>DAGPaLw4low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0x0101008CD6A43D1B78454A8980CCF5954A2BE0</vt:lpwstr>
  </property>
</Properties>
</file>