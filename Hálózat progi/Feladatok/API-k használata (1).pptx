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8288000" cy="10287000"/>
  <p:notesSz cx="6858000" cy="9144000"/>
  <p:embeddedFontLst>
    <p:embeddedFont>
      <p:font typeface="Kollektif" panose="020B0604020202020204" charset="0"/>
      <p:regular r:id="rId12"/>
    </p:embeddedFont>
    <p:embeddedFont>
      <p:font typeface="Kollektif Bold" panose="020B0604020202020204" charset="0"/>
      <p:regular r:id="rId13"/>
    </p:embeddedFont>
    <p:embeddedFont>
      <p:font typeface="Public Sans Bold" panose="020B0604020202020204" charset="0"/>
      <p:regular r:id="rId14"/>
    </p:embeddedFont>
    <p:embeddedFont>
      <p:font typeface="Roboto Bold" panose="020B060402020202020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sv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0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013827" y="-248630"/>
            <a:ext cx="8681329" cy="10784260"/>
          </a:xfrm>
          <a:custGeom>
            <a:avLst/>
            <a:gdLst/>
            <a:ahLst/>
            <a:cxnLst/>
            <a:rect l="l" t="t" r="r" b="b"/>
            <a:pathLst>
              <a:path w="8681329" h="10784260">
                <a:moveTo>
                  <a:pt x="0" y="0"/>
                </a:moveTo>
                <a:lnTo>
                  <a:pt x="8681329" y="0"/>
                </a:lnTo>
                <a:lnTo>
                  <a:pt x="8681329" y="10784260"/>
                </a:lnTo>
                <a:lnTo>
                  <a:pt x="0" y="10784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814686"/>
            <a:ext cx="14870012" cy="1579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9"/>
              </a:lnSpc>
            </a:pPr>
            <a:r>
              <a:rPr lang="en-US" sz="5280" b="1" spc="2624">
                <a:solidFill>
                  <a:srgbClr val="FFFFFF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HÁLÓZAT PROGRAMOZÁS, IOT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4351" y="3316442"/>
            <a:ext cx="16887528" cy="447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27"/>
              </a:lnSpc>
            </a:pPr>
            <a:r>
              <a:rPr lang="en-US" sz="15842" b="1" spc="1695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API-K HASZNÁLATA</a:t>
            </a:r>
          </a:p>
        </p:txBody>
      </p:sp>
      <p:sp>
        <p:nvSpPr>
          <p:cNvPr id="6" name="Freeform 6"/>
          <p:cNvSpPr/>
          <p:nvPr/>
        </p:nvSpPr>
        <p:spPr>
          <a:xfrm>
            <a:off x="-928092" y="7365586"/>
            <a:ext cx="12832964" cy="303325"/>
          </a:xfrm>
          <a:custGeom>
            <a:avLst/>
            <a:gdLst/>
            <a:ahLst/>
            <a:cxnLst/>
            <a:rect l="l" t="t" r="r" b="b"/>
            <a:pathLst>
              <a:path w="12832964" h="303325">
                <a:moveTo>
                  <a:pt x="0" y="0"/>
                </a:moveTo>
                <a:lnTo>
                  <a:pt x="12832964" y="0"/>
                </a:lnTo>
                <a:lnTo>
                  <a:pt x="12832964" y="303325"/>
                </a:lnTo>
                <a:lnTo>
                  <a:pt x="0" y="303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2695249" y="1536588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2" y="0"/>
                </a:lnTo>
                <a:lnTo>
                  <a:pt x="6873872" y="162474"/>
                </a:lnTo>
                <a:lnTo>
                  <a:pt x="0" y="162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992" y="80052"/>
            <a:ext cx="9020008" cy="2953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A Python használata a REST API-kkal való interakcióhoz</a:t>
            </a:r>
          </a:p>
        </p:txBody>
      </p:sp>
      <p:sp>
        <p:nvSpPr>
          <p:cNvPr id="3" name="Freeform 3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207527" y="3033437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9025" y="6969705"/>
            <a:ext cx="14477849" cy="2288595"/>
          </a:xfrm>
          <a:custGeom>
            <a:avLst/>
            <a:gdLst/>
            <a:ahLst/>
            <a:cxnLst/>
            <a:rect l="l" t="t" r="r" b="b"/>
            <a:pathLst>
              <a:path w="14477849" h="2288595">
                <a:moveTo>
                  <a:pt x="0" y="0"/>
                </a:moveTo>
                <a:lnTo>
                  <a:pt x="14477848" y="0"/>
                </a:lnTo>
                <a:lnTo>
                  <a:pt x="14477848" y="2288595"/>
                </a:lnTo>
                <a:lnTo>
                  <a:pt x="0" y="2288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3992" y="3316556"/>
            <a:ext cx="17347914" cy="323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Python számos kódtárral rendelkezik, amelyek egyszerűvé és gyorssá teszik a REST API-kkal való interakciót. Az egyik ilyen könyvtár a kérések könyvtára. A Python egy széles körben használt HTTP ügyféloldali kódtárat biztosít, amelyet kéréskönyvtárnak neveznek, és amelyet HTTP-kérések létrehozására használnak Pythonban. A kódban importáljuk a kérések könyvtárát, és HTTP GET kérést küldünk a Pythongeeks API-nak. A választ JSON-objektumként nyomtatjuk ki. A kérések könyvtára egyszerű A webszolgáltatások eléréséhez a fejlesztők API-kat (alkalmazásprogramozási felületeket) használnak, amelyek lehetővé teszik két különböző rendszer kommunikációját egymással.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774" y="488590"/>
            <a:ext cx="8473367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A kérelmek könyvtárának telepítése</a:t>
            </a:r>
          </a:p>
        </p:txBody>
      </p:sp>
      <p:sp>
        <p:nvSpPr>
          <p:cNvPr id="3" name="Freeform 3"/>
          <p:cNvSpPr/>
          <p:nvPr/>
        </p:nvSpPr>
        <p:spPr>
          <a:xfrm>
            <a:off x="8473367" y="-3908932"/>
            <a:ext cx="18104864" cy="18104864"/>
          </a:xfrm>
          <a:custGeom>
            <a:avLst/>
            <a:gdLst/>
            <a:ahLst/>
            <a:cxnLst/>
            <a:rect l="l" t="t" r="r" b="b"/>
            <a:pathLst>
              <a:path w="18104864" h="18104864">
                <a:moveTo>
                  <a:pt x="0" y="0"/>
                </a:moveTo>
                <a:lnTo>
                  <a:pt x="18104864" y="0"/>
                </a:lnTo>
                <a:lnTo>
                  <a:pt x="18104864" y="18104864"/>
                </a:lnTo>
                <a:lnTo>
                  <a:pt x="0" y="1810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242768" y="2451374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2" y="0"/>
                </a:lnTo>
                <a:lnTo>
                  <a:pt x="6873872" y="162474"/>
                </a:lnTo>
                <a:lnTo>
                  <a:pt x="0" y="162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144000" y="4573180"/>
            <a:ext cx="7734736" cy="1010489"/>
          </a:xfrm>
          <a:custGeom>
            <a:avLst/>
            <a:gdLst/>
            <a:ahLst/>
            <a:cxnLst/>
            <a:rect l="l" t="t" r="r" b="b"/>
            <a:pathLst>
              <a:path w="7734736" h="1010489">
                <a:moveTo>
                  <a:pt x="0" y="0"/>
                </a:moveTo>
                <a:lnTo>
                  <a:pt x="7734736" y="0"/>
                </a:lnTo>
                <a:lnTo>
                  <a:pt x="7734736" y="1010489"/>
                </a:lnTo>
                <a:lnTo>
                  <a:pt x="0" y="10104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1121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5905" y="3358425"/>
            <a:ext cx="6443261" cy="232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Mielőtt elkezdenénk, telepítenünk kell a Kérések könyvtárat. A telepítés egyik módja a pip használata, amely egy széles körben használt csomagkezelő a Python számára.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3367" y="-3908932"/>
            <a:ext cx="18104864" cy="18104864"/>
          </a:xfrm>
          <a:custGeom>
            <a:avLst/>
            <a:gdLst/>
            <a:ahLst/>
            <a:cxnLst/>
            <a:rect l="l" t="t" r="r" b="b"/>
            <a:pathLst>
              <a:path w="18104864" h="18104864">
                <a:moveTo>
                  <a:pt x="0" y="0"/>
                </a:moveTo>
                <a:lnTo>
                  <a:pt x="18104864" y="0"/>
                </a:lnTo>
                <a:lnTo>
                  <a:pt x="18104864" y="18104864"/>
                </a:lnTo>
                <a:lnTo>
                  <a:pt x="0" y="1810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741120" y="1916099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2" y="0"/>
                </a:lnTo>
                <a:lnTo>
                  <a:pt x="6873872" y="162474"/>
                </a:lnTo>
                <a:lnTo>
                  <a:pt x="0" y="162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44716" y="4184643"/>
            <a:ext cx="9953848" cy="1917714"/>
          </a:xfrm>
          <a:custGeom>
            <a:avLst/>
            <a:gdLst/>
            <a:ahLst/>
            <a:cxnLst/>
            <a:rect l="l" t="t" r="r" b="b"/>
            <a:pathLst>
              <a:path w="9953848" h="1917714">
                <a:moveTo>
                  <a:pt x="0" y="0"/>
                </a:moveTo>
                <a:lnTo>
                  <a:pt x="9953847" y="0"/>
                </a:lnTo>
                <a:lnTo>
                  <a:pt x="9953847" y="1917714"/>
                </a:lnTo>
                <a:lnTo>
                  <a:pt x="0" y="19177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6918" y="784956"/>
            <a:ext cx="800631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GET-kérések küldése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163" y="2830293"/>
            <a:ext cx="6190676" cy="3696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GET metódus az információk kiszolgálóról való beszerzésére szolgál. A GET kérést a Kérések könyvtár használatával tehetjük meg az alábbiak szerint: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Ebben a példában GET kérést küldünk az URL-címre https://api.example.com/, és kinyomtatjuk a válasz tartalmát.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2842" y="784956"/>
            <a:ext cx="8871158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POST kérések benyújtása</a:t>
            </a:r>
          </a:p>
        </p:txBody>
      </p:sp>
      <p:sp>
        <p:nvSpPr>
          <p:cNvPr id="3" name="Freeform 3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751460" y="1934391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093542" y="6507081"/>
            <a:ext cx="11690708" cy="2188209"/>
          </a:xfrm>
          <a:custGeom>
            <a:avLst/>
            <a:gdLst/>
            <a:ahLst/>
            <a:cxnLst/>
            <a:rect l="l" t="t" r="r" b="b"/>
            <a:pathLst>
              <a:path w="11690708" h="2188209">
                <a:moveTo>
                  <a:pt x="0" y="0"/>
                </a:moveTo>
                <a:lnTo>
                  <a:pt x="11690708" y="0"/>
                </a:lnTo>
                <a:lnTo>
                  <a:pt x="11690708" y="2188209"/>
                </a:lnTo>
                <a:lnTo>
                  <a:pt x="0" y="21882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5477" y="2807331"/>
            <a:ext cx="16506839" cy="232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POST metódus egy olyan HTTP-metódus, amellyel adatokat küldhet egy kiszolgálónak, és létrehozhat egy új erőforrást, vagy frissíthet egy meglévőt. POST kérést a Kérések könyvtár használatával tehetünk az alábbiak szerint: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Ebben a példában egy POST kérést küldünk az URL-címre https://api.example.com/login a {'username': 'john', 'password': 'secret'} adatokkal, és kinyomtatjuk a válasz tartalmát.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20346" y="2109156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2" y="0"/>
                </a:lnTo>
                <a:lnTo>
                  <a:pt x="6873872" y="162473"/>
                </a:lnTo>
                <a:lnTo>
                  <a:pt x="0" y="162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96846" y="6291668"/>
            <a:ext cx="13322232" cy="1677329"/>
          </a:xfrm>
          <a:custGeom>
            <a:avLst/>
            <a:gdLst/>
            <a:ahLst/>
            <a:cxnLst/>
            <a:rect l="l" t="t" r="r" b="b"/>
            <a:pathLst>
              <a:path w="13322232" h="1677329">
                <a:moveTo>
                  <a:pt x="0" y="0"/>
                </a:moveTo>
                <a:lnTo>
                  <a:pt x="13322232" y="0"/>
                </a:lnTo>
                <a:lnTo>
                  <a:pt x="13322232" y="1677329"/>
                </a:lnTo>
                <a:lnTo>
                  <a:pt x="0" y="167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6918" y="904875"/>
            <a:ext cx="6605617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Hitelesítés kezelése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4389" y="2623633"/>
            <a:ext cx="16757927" cy="186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Egyes REST API-k hitelesítést igényelnek bizonyos erőforrások eléréséhez. A hitelesítést a Kérések könyvtár használatával a következőképpen kezelhetjük: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Ebben a példában GET kérést küldünk az URL-https://api.example.com/ címre alapszintű hitelesítéssel a felhasználónév és a jelszó használatával.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3367" y="-3908932"/>
            <a:ext cx="18104864" cy="18104864"/>
          </a:xfrm>
          <a:custGeom>
            <a:avLst/>
            <a:gdLst/>
            <a:ahLst/>
            <a:cxnLst/>
            <a:rect l="l" t="t" r="r" b="b"/>
            <a:pathLst>
              <a:path w="18104864" h="18104864">
                <a:moveTo>
                  <a:pt x="0" y="0"/>
                </a:moveTo>
                <a:lnTo>
                  <a:pt x="18104864" y="0"/>
                </a:lnTo>
                <a:lnTo>
                  <a:pt x="18104864" y="18104864"/>
                </a:lnTo>
                <a:lnTo>
                  <a:pt x="0" y="18104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192315" y="612415"/>
            <a:ext cx="559181" cy="296366"/>
          </a:xfrm>
          <a:custGeom>
            <a:avLst/>
            <a:gdLst/>
            <a:ahLst/>
            <a:cxnLst/>
            <a:rect l="l" t="t" r="r" b="b"/>
            <a:pathLst>
              <a:path w="559181" h="296366">
                <a:moveTo>
                  <a:pt x="0" y="0"/>
                </a:moveTo>
                <a:lnTo>
                  <a:pt x="559182" y="0"/>
                </a:lnTo>
                <a:lnTo>
                  <a:pt x="559182" y="296366"/>
                </a:lnTo>
                <a:lnTo>
                  <a:pt x="0" y="296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43309" y="2232900"/>
            <a:ext cx="6873872" cy="162473"/>
          </a:xfrm>
          <a:custGeom>
            <a:avLst/>
            <a:gdLst/>
            <a:ahLst/>
            <a:cxnLst/>
            <a:rect l="l" t="t" r="r" b="b"/>
            <a:pathLst>
              <a:path w="6873872" h="162473">
                <a:moveTo>
                  <a:pt x="0" y="0"/>
                </a:moveTo>
                <a:lnTo>
                  <a:pt x="6873873" y="0"/>
                </a:lnTo>
                <a:lnTo>
                  <a:pt x="6873873" y="162474"/>
                </a:lnTo>
                <a:lnTo>
                  <a:pt x="0" y="162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38733" y="3530993"/>
            <a:ext cx="9949511" cy="3225014"/>
          </a:xfrm>
          <a:custGeom>
            <a:avLst/>
            <a:gdLst/>
            <a:ahLst/>
            <a:cxnLst/>
            <a:rect l="l" t="t" r="r" b="b"/>
            <a:pathLst>
              <a:path w="9949511" h="3225014">
                <a:moveTo>
                  <a:pt x="0" y="0"/>
                </a:moveTo>
                <a:lnTo>
                  <a:pt x="9949511" y="0"/>
                </a:lnTo>
                <a:lnTo>
                  <a:pt x="9949511" y="3225014"/>
                </a:lnTo>
                <a:lnTo>
                  <a:pt x="0" y="32250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72842" y="904875"/>
            <a:ext cx="6605617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18072B"/>
                </a:solidFill>
                <a:latin typeface="Roboto Bold"/>
                <a:ea typeface="Roboto Bold"/>
                <a:cs typeface="Roboto Bold"/>
                <a:sym typeface="Roboto Bold"/>
              </a:rPr>
              <a:t>Hibák kezelése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0313" y="3032827"/>
            <a:ext cx="6190676" cy="598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A REST API-k különböző okokból, például érvénytelen bemenet, hitelesítési hiba vagy kiszolgálóhibák miatt adhatnak vissza hibaválaszokat. A hibákat a Kérések könyvtár használatával az alábbiak szerint kezelhetjük: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18072B"/>
                </a:solidFill>
                <a:latin typeface="Kollektif"/>
                <a:ea typeface="Kollektif"/>
                <a:cs typeface="Kollektif"/>
                <a:sym typeface="Kollektif"/>
              </a:rPr>
              <a:t>Ebben a példában GET kérést küldünk az URL-címre https://api.example.com/, és ellenőrizzük a válasz állapotkódját. Ha az állapotkód 200 (OK), kinyomtatjuk a válasz tartalmát. Ellenkező esetben hibaüzenetet nyomtatunk az állapotkóddal.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D6A43D1B78454A8980CCF5954A2BE0" ma:contentTypeVersion="3" ma:contentTypeDescription="Create a new document." ma:contentTypeScope="" ma:versionID="f704d8b64eef6193da0ad57452911c68">
  <xsd:schema xmlns:xsd="http://www.w3.org/2001/XMLSchema" xmlns:xs="http://www.w3.org/2001/XMLSchema" xmlns:p="http://schemas.microsoft.com/office/2006/metadata/properties" xmlns:ns2="c7a805f4-7089-4131-884d-03a939649389" targetNamespace="http://schemas.microsoft.com/office/2006/metadata/properties" ma:root="true" ma:fieldsID="c46cb92c6dde7dea9004262dadf9d86e" ns2:_="">
    <xsd:import namespace="c7a805f4-7089-4131-884d-03a9396493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805f4-7089-4131-884d-03a9396493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B5546C-915C-4FCE-A1A9-2C773E1C1ED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2A6A7E4-83F3-4B39-9C7D-2C7DE16F31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A1CB44-2D5E-4091-924A-8ADA502FDA11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API-k használata (1)</dc:title>
  <cp:revision>1</cp:revision>
  <dcterms:created xsi:type="dcterms:W3CDTF">2006-08-16T00:00:00Z</dcterms:created>
  <dcterms:modified xsi:type="dcterms:W3CDTF">2025-11-04T09:06:19Z</dcterms:modified>
  <dc:identifier>DAGPaZai8Io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0x0101008CD6A43D1B78454A8980CCF5954A2BE0</vt:lpwstr>
  </property>
</Properties>
</file>