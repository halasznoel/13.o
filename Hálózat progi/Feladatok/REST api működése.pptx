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8288000" cy="10287000"/>
  <p:notesSz cx="6858000" cy="9144000"/>
  <p:embeddedFontLst>
    <p:embeddedFont>
      <p:font typeface="Arimo Bold" panose="020B0604020202020204" charset="0"/>
      <p:regular r:id="rId12"/>
    </p:embeddedFont>
    <p:embeddedFont>
      <p:font typeface="Kollektif" panose="020B0604020202020204" charset="0"/>
      <p:regular r:id="rId13"/>
    </p:embeddedFont>
    <p:embeddedFont>
      <p:font typeface="Kollektif Bold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Roboto Bold" panose="020B060402020202020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9CC0BE-0D1E-6B88-DA69-6B153F3F51F3}" v="4" dt="2025-11-04T09:26:18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seh Martin" userId="S::cseh.martin.2021e@ms.gdszeged.hu::1b4f9d23-b886-496a-802e-75df8e874f74" providerId="AD" clId="Web-{A99CC0BE-0D1E-6B88-DA69-6B153F3F51F3}"/>
    <pc:docChg chg="modSld">
      <pc:chgData name="Cseh Martin" userId="S::cseh.martin.2021e@ms.gdszeged.hu::1b4f9d23-b886-496a-802e-75df8e874f74" providerId="AD" clId="Web-{A99CC0BE-0D1E-6B88-DA69-6B153F3F51F3}" dt="2025-11-04T09:26:18.818" v="3" actId="1076"/>
      <pc:docMkLst>
        <pc:docMk/>
      </pc:docMkLst>
      <pc:sldChg chg="modSp">
        <pc:chgData name="Cseh Martin" userId="S::cseh.martin.2021e@ms.gdszeged.hu::1b4f9d23-b886-496a-802e-75df8e874f74" providerId="AD" clId="Web-{A99CC0BE-0D1E-6B88-DA69-6B153F3F51F3}" dt="2025-11-04T09:15:12.912" v="2" actId="1076"/>
        <pc:sldMkLst>
          <pc:docMk/>
          <pc:sldMk cId="0" sldId="257"/>
        </pc:sldMkLst>
        <pc:spChg chg="mod">
          <ac:chgData name="Cseh Martin" userId="S::cseh.martin.2021e@ms.gdszeged.hu::1b4f9d23-b886-496a-802e-75df8e874f74" providerId="AD" clId="Web-{A99CC0BE-0D1E-6B88-DA69-6B153F3F51F3}" dt="2025-11-04T09:15:10.256" v="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Cseh Martin" userId="S::cseh.martin.2021e@ms.gdszeged.hu::1b4f9d23-b886-496a-802e-75df8e874f74" providerId="AD" clId="Web-{A99CC0BE-0D1E-6B88-DA69-6B153F3F51F3}" dt="2025-11-04T09:15:11.600" v="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Cseh Martin" userId="S::cseh.martin.2021e@ms.gdszeged.hu::1b4f9d23-b886-496a-802e-75df8e874f74" providerId="AD" clId="Web-{A99CC0BE-0D1E-6B88-DA69-6B153F3F51F3}" dt="2025-11-04T09:15:12.912" v="2" actId="1076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Cseh Martin" userId="S::cseh.martin.2021e@ms.gdszeged.hu::1b4f9d23-b886-496a-802e-75df8e874f74" providerId="AD" clId="Web-{A99CC0BE-0D1E-6B88-DA69-6B153F3F51F3}" dt="2025-11-04T09:26:18.818" v="3" actId="1076"/>
        <pc:sldMkLst>
          <pc:docMk/>
          <pc:sldMk cId="0" sldId="259"/>
        </pc:sldMkLst>
        <pc:spChg chg="mod">
          <ac:chgData name="Cseh Martin" userId="S::cseh.martin.2021e@ms.gdszeged.hu::1b4f9d23-b886-496a-802e-75df8e874f74" providerId="AD" clId="Web-{A99CC0BE-0D1E-6B88-DA69-6B153F3F51F3}" dt="2025-11-04T09:26:18.818" v="3" actId="1076"/>
          <ac:spMkLst>
            <pc:docMk/>
            <pc:sldMk cId="0" sldId="259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13827" y="-248630"/>
            <a:ext cx="8681329" cy="10784260"/>
          </a:xfrm>
          <a:custGeom>
            <a:avLst/>
            <a:gdLst/>
            <a:ahLst/>
            <a:cxnLst/>
            <a:rect l="l" t="t" r="r" b="b"/>
            <a:pathLst>
              <a:path w="8681329" h="10784260">
                <a:moveTo>
                  <a:pt x="0" y="0"/>
                </a:moveTo>
                <a:lnTo>
                  <a:pt x="8681329" y="0"/>
                </a:lnTo>
                <a:lnTo>
                  <a:pt x="8681329" y="10784260"/>
                </a:lnTo>
                <a:lnTo>
                  <a:pt x="0" y="10784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0447" y="1946712"/>
            <a:ext cx="12298240" cy="148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9"/>
              </a:lnSpc>
            </a:pPr>
            <a:r>
              <a:rPr lang="en-US" sz="5280" b="1" spc="2624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HÁLÓZAT PROGRAMOZÁS, IOT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1687" y="3191670"/>
            <a:ext cx="13695775" cy="44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7"/>
              </a:lnSpc>
            </a:pPr>
            <a:r>
              <a:rPr lang="en-US" sz="15842" b="1" spc="169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REST API MŰKÖDÉSE</a:t>
            </a:r>
          </a:p>
        </p:txBody>
      </p:sp>
      <p:sp>
        <p:nvSpPr>
          <p:cNvPr id="5" name="Freeform 5"/>
          <p:cNvSpPr/>
          <p:nvPr/>
        </p:nvSpPr>
        <p:spPr>
          <a:xfrm>
            <a:off x="-928092" y="7365586"/>
            <a:ext cx="12832964" cy="303325"/>
          </a:xfrm>
          <a:custGeom>
            <a:avLst/>
            <a:gdLst/>
            <a:ahLst/>
            <a:cxnLst/>
            <a:rect l="l" t="t" r="r" b="b"/>
            <a:pathLst>
              <a:path w="12832964" h="303325">
                <a:moveTo>
                  <a:pt x="0" y="0"/>
                </a:moveTo>
                <a:lnTo>
                  <a:pt x="12832964" y="0"/>
                </a:lnTo>
                <a:lnTo>
                  <a:pt x="12832964" y="303325"/>
                </a:lnTo>
                <a:lnTo>
                  <a:pt x="0" y="303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695249" y="1536588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2" y="0"/>
                </a:lnTo>
                <a:lnTo>
                  <a:pt x="6873872" y="162474"/>
                </a:lnTo>
                <a:lnTo>
                  <a:pt x="0" y="162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43309" y="126848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0675387">
            <a:off x="-7912198" y="2708869"/>
            <a:ext cx="12287251" cy="10647531"/>
          </a:xfrm>
          <a:custGeom>
            <a:avLst/>
            <a:gdLst/>
            <a:ahLst/>
            <a:cxnLst/>
            <a:rect l="l" t="t" r="r" b="b"/>
            <a:pathLst>
              <a:path w="12287251" h="10647531">
                <a:moveTo>
                  <a:pt x="0" y="0"/>
                </a:moveTo>
                <a:lnTo>
                  <a:pt x="12287251" y="0"/>
                </a:lnTo>
                <a:lnTo>
                  <a:pt x="12287251" y="10647531"/>
                </a:lnTo>
                <a:lnTo>
                  <a:pt x="0" y="10647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4140" y="3440314"/>
            <a:ext cx="15221395" cy="475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a reprezentációs állapotátvitel (REST) architekturális stílusra épülnek. A REST népszerű módja a webszolgáltatások létrehozásának, mert könnyen használható és méretezhető. A modern webfejlesztés alapvető részét képezik. Ezek lehetővé teszik a kommunikációt a különböző rendszerek, eszközök és alkalmazások között. A REST API-k HTTP protokollt használnak az ügyfél és a kiszolgáló közötti kommunikációhoz. Olyan szabványos HTTP-metódusokat használnak, mint a GET, POST, PUT, DELETE különböző műveletek végrehajtásához, például adatok lekéréséhez, adatok létrehozásához, frissítéséhez és törléséhez. A REST API-k olyan webszolgáltatás-típusok, amelyek API-k létrehozására használhatók a REST architekturális stílus használatával. Ezek könnyűek, és HTTP-kérések használatával érhetők el. A REST API-k azért váltak népszerűvé, mert skálázhatók, állapot nélküliek és egyszerűen használhatók.</a:t>
            </a:r>
          </a:p>
        </p:txBody>
      </p:sp>
      <p:sp>
        <p:nvSpPr>
          <p:cNvPr id="6" name="Freeform 6"/>
          <p:cNvSpPr/>
          <p:nvPr/>
        </p:nvSpPr>
        <p:spPr>
          <a:xfrm rot="13500000">
            <a:off x="3654040" y="12353205"/>
            <a:ext cx="9512725" cy="224846"/>
          </a:xfrm>
          <a:custGeom>
            <a:avLst/>
            <a:gdLst/>
            <a:ahLst/>
            <a:cxnLst/>
            <a:rect l="l" t="t" r="r" b="b"/>
            <a:pathLst>
              <a:path w="9512725" h="224846">
                <a:moveTo>
                  <a:pt x="0" y="0"/>
                </a:moveTo>
                <a:lnTo>
                  <a:pt x="9512725" y="0"/>
                </a:lnTo>
                <a:lnTo>
                  <a:pt x="9512725" y="224846"/>
                </a:lnTo>
                <a:lnTo>
                  <a:pt x="0" y="22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6506036" y="2853172"/>
            <a:ext cx="5883071" cy="139054"/>
          </a:xfrm>
          <a:custGeom>
            <a:avLst/>
            <a:gdLst/>
            <a:ahLst/>
            <a:cxnLst/>
            <a:rect l="l" t="t" r="r" b="b"/>
            <a:pathLst>
              <a:path w="5883071" h="139054">
                <a:moveTo>
                  <a:pt x="0" y="0"/>
                </a:moveTo>
                <a:lnTo>
                  <a:pt x="5883072" y="0"/>
                </a:lnTo>
                <a:lnTo>
                  <a:pt x="5883072" y="139054"/>
                </a:lnTo>
                <a:lnTo>
                  <a:pt x="0" y="13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500000">
            <a:off x="5649606" y="13000741"/>
            <a:ext cx="9512725" cy="224846"/>
          </a:xfrm>
          <a:custGeom>
            <a:avLst/>
            <a:gdLst/>
            <a:ahLst/>
            <a:cxnLst/>
            <a:rect l="l" t="t" r="r" b="b"/>
            <a:pathLst>
              <a:path w="9512725" h="224846">
                <a:moveTo>
                  <a:pt x="0" y="0"/>
                </a:moveTo>
                <a:lnTo>
                  <a:pt x="9512725" y="0"/>
                </a:lnTo>
                <a:lnTo>
                  <a:pt x="9512725" y="224847"/>
                </a:lnTo>
                <a:lnTo>
                  <a:pt x="0" y="22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2829" y="1507159"/>
            <a:ext cx="15489487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Mi az a REST API?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43309" y="126848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17441" y="1721787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17441" y="3119935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8"/>
                </a:lnTo>
                <a:lnTo>
                  <a:pt x="0" y="9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32201" y="4663641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8"/>
                </a:lnTo>
                <a:lnTo>
                  <a:pt x="0" y="9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32201" y="6204384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3599794"/>
            <a:ext cx="9873367" cy="4722045"/>
          </a:xfrm>
          <a:custGeom>
            <a:avLst/>
            <a:gdLst/>
            <a:ahLst/>
            <a:cxnLst/>
            <a:rect l="l" t="t" r="r" b="b"/>
            <a:pathLst>
              <a:path w="9873367" h="4722045">
                <a:moveTo>
                  <a:pt x="0" y="0"/>
                </a:moveTo>
                <a:lnTo>
                  <a:pt x="9873367" y="0"/>
                </a:lnTo>
                <a:lnTo>
                  <a:pt x="9873367" y="4722045"/>
                </a:lnTo>
                <a:lnTo>
                  <a:pt x="0" y="472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93628" y="1704410"/>
            <a:ext cx="8820582" cy="172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Általános lépések bármely REST API-híváshoz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69491" y="1601794"/>
            <a:ext cx="6897665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kliens kérést küld a szervernek. Az ügyfél követi az API dokumentációját, hogy a kérést a szerver számára érthető módon formázza.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18072B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32201" y="1945900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69491" y="3249930"/>
            <a:ext cx="6641177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szerver hitelesíti az ügyfelet, és megerősíti, hogy az ügyfélnek jogában áll a kérést benyújtani.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17441" y="3344048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9491" y="4842986"/>
            <a:ext cx="6641177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szerver megkapja a kérést, és belsőleg feldolgozza.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17441" y="4887754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46962" y="6432984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9491" y="6147234"/>
            <a:ext cx="6641177" cy="236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szerver választ küld a kliensnek. A válasz olyan információkat tartalmaz, amelyek közlik az ügyféllel, hogy a kérés sikeres volt-e. A válasz tartalmazza az ügyfél által kért információkat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7833" y="1514369"/>
            <a:ext cx="15528454" cy="86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A REST API-k néhány fő funkciója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4147" y="2387070"/>
            <a:ext cx="5573661" cy="66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Erőforrások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8908" y="3117447"/>
            <a:ext cx="16282589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erőforrásokat használnak a HTTP-kérésekkel elérhető adatok vagy objektumok ábrázolására.</a:t>
            </a:r>
          </a:p>
        </p:txBody>
      </p:sp>
      <p:sp>
        <p:nvSpPr>
          <p:cNvPr id="5" name="Freeform 5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919509" y="356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3354" y="2504605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8"/>
                </a:lnTo>
                <a:lnTo>
                  <a:pt x="0" y="9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0255" y="2795026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5236" y="3664753"/>
            <a:ext cx="15293648" cy="66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Egységes felület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236" y="4337980"/>
            <a:ext cx="1631683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egységes felületet használnak, amely lehetővé teszi az ügyfelek számára, hogy szabványos HTTP-metódusokkal, például GET, POST, PUT és DELETE használatával hozzáférjenek az erőforrásokhoz.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0255" y="3797698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5015" y="4072709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147" y="5324620"/>
            <a:ext cx="5573661" cy="66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Állapot nélküli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9796" y="6054997"/>
            <a:ext cx="16261701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állapot nélküliek, ami azt jelenti, hogy nem tárolnak ügyféladatokat. Minden kérés tartalmazza az összes olyan információt, amely ahhoz szükséges, hogy a kiszolgáló válaszoljon a kérésre.</a:t>
            </a:r>
          </a:p>
        </p:txBody>
      </p:sp>
      <p:sp>
        <p:nvSpPr>
          <p:cNvPr id="15" name="Freeform 15"/>
          <p:cNvSpPr/>
          <p:nvPr/>
        </p:nvSpPr>
        <p:spPr>
          <a:xfrm>
            <a:off x="365015" y="5309867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8"/>
                </a:lnTo>
                <a:lnTo>
                  <a:pt x="0" y="9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2395" y="5533980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372395" y="7074987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87155" y="8501431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8"/>
                </a:lnTo>
                <a:lnTo>
                  <a:pt x="0" y="95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54147" y="8296039"/>
            <a:ext cx="15293648" cy="66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Rétegzett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4147" y="6872242"/>
            <a:ext cx="15293648" cy="66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Gyorsítótárazható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7155" y="7299100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5015" y="8725544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7879" y="7478794"/>
            <a:ext cx="16243618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gyorsítótárazhatók, ami azt jelenti, hogy az ügyfelek későbbi használatra tárolhatják a válaszokat, csökkentve ezzel a kiszolgálónak küldött kérések számát.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8908" y="9074041"/>
            <a:ext cx="1625316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rétegezhetők, ami azt jelenti, hogy az ügyfél közvetítők több rétegén, például proxykon vagy átjárókon keresztül kommunikálhat egy API-val.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43309" y="126848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24613">
            <a:off x="-5549998" y="2053549"/>
            <a:ext cx="12287251" cy="10647531"/>
          </a:xfrm>
          <a:custGeom>
            <a:avLst/>
            <a:gdLst/>
            <a:ahLst/>
            <a:cxnLst/>
            <a:rect l="l" t="t" r="r" b="b"/>
            <a:pathLst>
              <a:path w="12287251" h="10647531">
                <a:moveTo>
                  <a:pt x="0" y="0"/>
                </a:moveTo>
                <a:lnTo>
                  <a:pt x="12287251" y="0"/>
                </a:lnTo>
                <a:lnTo>
                  <a:pt x="12287251" y="10647531"/>
                </a:lnTo>
                <a:lnTo>
                  <a:pt x="0" y="10647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100000">
            <a:off x="4065520" y="11042565"/>
            <a:ext cx="9512725" cy="224846"/>
          </a:xfrm>
          <a:custGeom>
            <a:avLst/>
            <a:gdLst/>
            <a:ahLst/>
            <a:cxnLst/>
            <a:rect l="l" t="t" r="r" b="b"/>
            <a:pathLst>
              <a:path w="9512725" h="224846">
                <a:moveTo>
                  <a:pt x="0" y="0"/>
                </a:moveTo>
                <a:lnTo>
                  <a:pt x="9512725" y="0"/>
                </a:lnTo>
                <a:lnTo>
                  <a:pt x="9512725" y="224846"/>
                </a:lnTo>
                <a:lnTo>
                  <a:pt x="0" y="22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5794417" y="2577625"/>
            <a:ext cx="5883071" cy="139054"/>
          </a:xfrm>
          <a:custGeom>
            <a:avLst/>
            <a:gdLst/>
            <a:ahLst/>
            <a:cxnLst/>
            <a:rect l="l" t="t" r="r" b="b"/>
            <a:pathLst>
              <a:path w="5883071" h="139054">
                <a:moveTo>
                  <a:pt x="0" y="0"/>
                </a:moveTo>
                <a:lnTo>
                  <a:pt x="5883072" y="0"/>
                </a:lnTo>
                <a:lnTo>
                  <a:pt x="5883072" y="139054"/>
                </a:lnTo>
                <a:lnTo>
                  <a:pt x="0" y="13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100000">
            <a:off x="5314326" y="11400541"/>
            <a:ext cx="9512725" cy="224846"/>
          </a:xfrm>
          <a:custGeom>
            <a:avLst/>
            <a:gdLst/>
            <a:ahLst/>
            <a:cxnLst/>
            <a:rect l="l" t="t" r="r" b="b"/>
            <a:pathLst>
              <a:path w="9512725" h="224846">
                <a:moveTo>
                  <a:pt x="0" y="0"/>
                </a:moveTo>
                <a:lnTo>
                  <a:pt x="9512725" y="0"/>
                </a:lnTo>
                <a:lnTo>
                  <a:pt x="9512725" y="224847"/>
                </a:lnTo>
                <a:lnTo>
                  <a:pt x="0" y="22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71498" y="3438152"/>
            <a:ext cx="11301259" cy="5820148"/>
          </a:xfrm>
          <a:custGeom>
            <a:avLst/>
            <a:gdLst/>
            <a:ahLst/>
            <a:cxnLst/>
            <a:rect l="l" t="t" r="r" b="b"/>
            <a:pathLst>
              <a:path w="11301259" h="5820148">
                <a:moveTo>
                  <a:pt x="0" y="0"/>
                </a:moveTo>
                <a:lnTo>
                  <a:pt x="11301259" y="0"/>
                </a:lnTo>
                <a:lnTo>
                  <a:pt x="11301259" y="5820148"/>
                </a:lnTo>
                <a:lnTo>
                  <a:pt x="0" y="58201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1297609"/>
            <a:ext cx="17471906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REST architektúra diagrammal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29761" y="4054641"/>
            <a:ext cx="6909060" cy="522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REST, a Representational State Transfer rövidítése, egy webszolgáltatási architektúra, amely lehetővé teszi az ügyfelek számára, hogy HTTP/HTTPS-en keresztül kommunikáljanak a kiszolgálókkal. A REST architektúra olyan elveken és korlátozásokon alapul, mint az állapot nélküliség, az egységes felület és a gyorsítótárazhatóság. Egy tipikus REST-architektúra során az ügyfelek HTTP-kéréseket küldenek a kiszolgálóknak, amelyek HTTP-válaszokkal válaszolnak.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24613">
            <a:off x="-3923104" y="3843214"/>
            <a:ext cx="9735137" cy="8435994"/>
          </a:xfrm>
          <a:custGeom>
            <a:avLst/>
            <a:gdLst/>
            <a:ahLst/>
            <a:cxnLst/>
            <a:rect l="l" t="t" r="r" b="b"/>
            <a:pathLst>
              <a:path w="9735137" h="8435994">
                <a:moveTo>
                  <a:pt x="0" y="0"/>
                </a:moveTo>
                <a:lnTo>
                  <a:pt x="9735136" y="0"/>
                </a:lnTo>
                <a:lnTo>
                  <a:pt x="9735136" y="8435994"/>
                </a:lnTo>
                <a:lnTo>
                  <a:pt x="0" y="8435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43309" y="126848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3580037" y="11563035"/>
            <a:ext cx="14044299" cy="331956"/>
          </a:xfrm>
          <a:custGeom>
            <a:avLst/>
            <a:gdLst/>
            <a:ahLst/>
            <a:cxnLst/>
            <a:rect l="l" t="t" r="r" b="b"/>
            <a:pathLst>
              <a:path w="14044299" h="331956">
                <a:moveTo>
                  <a:pt x="0" y="0"/>
                </a:moveTo>
                <a:lnTo>
                  <a:pt x="14044299" y="0"/>
                </a:lnTo>
                <a:lnTo>
                  <a:pt x="14044299" y="331956"/>
                </a:lnTo>
                <a:lnTo>
                  <a:pt x="0" y="33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3079793" y="1524656"/>
            <a:ext cx="14189483" cy="335388"/>
          </a:xfrm>
          <a:custGeom>
            <a:avLst/>
            <a:gdLst/>
            <a:ahLst/>
            <a:cxnLst/>
            <a:rect l="l" t="t" r="r" b="b"/>
            <a:pathLst>
              <a:path w="14189483" h="335388">
                <a:moveTo>
                  <a:pt x="0" y="0"/>
                </a:moveTo>
                <a:lnTo>
                  <a:pt x="14189483" y="0"/>
                </a:lnTo>
                <a:lnTo>
                  <a:pt x="14189483" y="335387"/>
                </a:lnTo>
                <a:lnTo>
                  <a:pt x="0" y="335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35766" y="2221731"/>
            <a:ext cx="7428611" cy="7036569"/>
            <a:chOff x="0" y="0"/>
            <a:chExt cx="1956507" cy="1853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6507" cy="1853253"/>
            </a:xfrm>
            <a:custGeom>
              <a:avLst/>
              <a:gdLst/>
              <a:ahLst/>
              <a:cxnLst/>
              <a:rect l="l" t="t" r="r" b="b"/>
              <a:pathLst>
                <a:path w="1956507" h="1853253">
                  <a:moveTo>
                    <a:pt x="0" y="0"/>
                  </a:moveTo>
                  <a:lnTo>
                    <a:pt x="1956507" y="0"/>
                  </a:lnTo>
                  <a:lnTo>
                    <a:pt x="1956507" y="1853253"/>
                  </a:lnTo>
                  <a:lnTo>
                    <a:pt x="0" y="1853253"/>
                  </a:lnTo>
                  <a:close/>
                </a:path>
              </a:pathLst>
            </a:custGeom>
            <a:solidFill>
              <a:srgbClr val="28094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956507" cy="1843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9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768165" y="3576504"/>
          <a:ext cx="7315200" cy="5133975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795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HTTP módszer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0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Kollektif Bold"/>
                          <a:ea typeface="Kollektif Bold"/>
                          <a:cs typeface="Kollektif Bold"/>
                          <a:sym typeface="Kollektif Bold"/>
                        </a:rPr>
                        <a:t>Funkció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0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requests.get(url)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POST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requests.post(url, data)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requests.put(url, data)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DELETE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Kollektif"/>
                          <a:ea typeface="Kollektif"/>
                          <a:cs typeface="Kollektif"/>
                          <a:sym typeface="Kollektif"/>
                        </a:rPr>
                        <a:t>requests.delete(url)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2158011" y="2653784"/>
            <a:ext cx="6140253" cy="209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66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Parancsok táblázata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6077" y="4741094"/>
            <a:ext cx="6184121" cy="233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Ha REST API-kkal dolgozik a Pythonban, a kérések kódtárát kell használnia az API-végpontok HTTP-kéréseinek végrehajtásához. Íme egy táblázat néhány gyakori HTTP-metódusról és a hozzájuk tartozó kéréskönyvtár-függvényekről: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61352"/>
            <a:ext cx="16443206" cy="86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Python és felhasználási esetei a webfejlesztésben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3336" y="4289625"/>
            <a:ext cx="5573661" cy="48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Webes keretrendszerek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63865"/>
            <a:ext cx="16921370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Python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egy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széles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körben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használt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programozási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nyelv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amely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alkalmazások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széles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skálájával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rendelkezik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különböző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tartományokon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átívelve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beleértve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de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nem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kizárólagosan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a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webfejlesztést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. A Python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népszerűsége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egyszerűségének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olvashatóságának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és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könnyű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használatának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köszönhető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. A Python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számos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könyvtárral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és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keretrendszerrel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rendelkezik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,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amelyek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a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webfejlesztést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hu-HU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lehetővé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r>
              <a:rPr lang="en-US" sz="2799" err="1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teszik</a:t>
            </a:r>
            <a:r>
              <a:rPr lang="en-US" sz="27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7067" y="4729807"/>
            <a:ext cx="15714429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Python számos webes keretrendszerrel rendelkezik, mint például a Django, a Flask, a Pyramid és a web2py, amelyek megkönnyítik és gyorsítják a webfejlesztést.</a:t>
            </a:r>
          </a:p>
        </p:txBody>
      </p:sp>
      <p:sp>
        <p:nvSpPr>
          <p:cNvPr id="6" name="Freeform 6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843309" y="126848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9648" y="4384875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64408" y="4608988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37067" y="5578491"/>
            <a:ext cx="5573661" cy="48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Tesztelés</a:t>
            </a:r>
          </a:p>
        </p:txBody>
      </p:sp>
      <p:sp>
        <p:nvSpPr>
          <p:cNvPr id="11" name="Freeform 11"/>
          <p:cNvSpPr/>
          <p:nvPr/>
        </p:nvSpPr>
        <p:spPr>
          <a:xfrm>
            <a:off x="834888" y="5716293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8" y="0"/>
                </a:lnTo>
                <a:lnTo>
                  <a:pt x="959718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34888" y="5940406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37067" y="7257036"/>
            <a:ext cx="5573661" cy="48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6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Gépi tanulás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3933" y="7849618"/>
            <a:ext cx="1568756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Python olyan könyvtárakkal rendelkezik, mint a TensorFlow és a Scikit-Learn, amelyek egyszerűvé és gyorssá teszik a gépi tanulást.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4408" y="7222349"/>
            <a:ext cx="959718" cy="959718"/>
          </a:xfrm>
          <a:custGeom>
            <a:avLst/>
            <a:gdLst/>
            <a:ahLst/>
            <a:cxnLst/>
            <a:rect l="l" t="t" r="r" b="b"/>
            <a:pathLst>
              <a:path w="959718" h="959718">
                <a:moveTo>
                  <a:pt x="0" y="0"/>
                </a:moveTo>
                <a:lnTo>
                  <a:pt x="959719" y="0"/>
                </a:lnTo>
                <a:lnTo>
                  <a:pt x="959719" y="959719"/>
                </a:lnTo>
                <a:lnTo>
                  <a:pt x="0" y="959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79168" y="7491414"/>
            <a:ext cx="944958" cy="45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202" y="6238432"/>
            <a:ext cx="1574129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Python olyan könyvtárakkal rendelkezik, mint a pytest és az unittest, amelyek megkönnyítik és gyorsítják a webalkalmazások tesztelését.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CD6A43D1B78454A8980CCF5954A2BE0" ma:contentTypeVersion="3" ma:contentTypeDescription="Új dokumentum létrehozása." ma:contentTypeScope="" ma:versionID="0e36305e5d0a3e4c21c8765ab612a384">
  <xsd:schema xmlns:xsd="http://www.w3.org/2001/XMLSchema" xmlns:xs="http://www.w3.org/2001/XMLSchema" xmlns:p="http://schemas.microsoft.com/office/2006/metadata/properties" xmlns:ns2="c7a805f4-7089-4131-884d-03a939649389" targetNamespace="http://schemas.microsoft.com/office/2006/metadata/properties" ma:root="true" ma:fieldsID="9feadd16d49e05e19d38905d4d2543d8" ns2:_="">
    <xsd:import namespace="c7a805f4-7089-4131-884d-03a939649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805f4-7089-4131-884d-03a939649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A90167-F3E5-4C02-AFAB-D0A52C3513DE}">
  <ds:schemaRefs>
    <ds:schemaRef ds:uri="c7a805f4-7089-4131-884d-03a9396493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91EA140-556A-4F6E-A783-1D1BDC4998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AC5D64C-928A-4543-A662-22918186D2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működése</dc:title>
  <cp:revision>1</cp:revision>
  <dcterms:created xsi:type="dcterms:W3CDTF">2006-08-16T00:00:00Z</dcterms:created>
  <dcterms:modified xsi:type="dcterms:W3CDTF">2025-11-04T09:26:20Z</dcterms:modified>
  <dc:identifier>DAGPaDQBoYU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0x0101008CD6A43D1B78454A8980CCF5954A2BE0</vt:lpwstr>
  </property>
</Properties>
</file>