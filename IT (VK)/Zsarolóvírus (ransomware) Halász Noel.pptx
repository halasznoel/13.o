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4"/>
  </p:sldMasterIdLst>
  <p:sldIdLst>
    <p:sldId id="256" r:id="rId5"/>
    <p:sldId id="257" r:id="rId6"/>
    <p:sldId id="258" r:id="rId7"/>
    <p:sldId id="260" r:id="rId8"/>
    <p:sldId id="259" r:id="rId9"/>
    <p:sldId id="261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59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viewProps" Target="view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presProps" Target="presProps.xml"/><Relationship Id="rId5" Type="http://schemas.openxmlformats.org/officeDocument/2006/relationships/slide" Target="slides/slide1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Cím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4212" y="685799"/>
            <a:ext cx="8001000" cy="2971801"/>
          </a:xfrm>
        </p:spPr>
        <p:txBody>
          <a:bodyPr anchor="b">
            <a:normAutofit/>
          </a:bodyPr>
          <a:lstStyle>
            <a:lvl1pPr algn="l">
              <a:defRPr sz="4800">
                <a:effectLst/>
              </a:defRPr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4212" y="3843867"/>
            <a:ext cx="6400800" cy="1947333"/>
          </a:xfrm>
        </p:spPr>
        <p:txBody>
          <a:bodyPr anchor="t">
            <a:normAutofit/>
          </a:bodyPr>
          <a:lstStyle>
            <a:lvl1pPr marL="0" indent="0" algn="l">
              <a:buNone/>
              <a:defRPr sz="21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hu-HU"/>
              <a:t>Kattintson ide az alcím mintájának szerkesztéséhez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6" name="Straight Connector 15"/>
          <p:cNvCxnSpPr/>
          <p:nvPr/>
        </p:nvCxnSpPr>
        <p:spPr>
          <a:xfrm flipH="1">
            <a:off x="8228012" y="8467"/>
            <a:ext cx="3810000" cy="3810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 flipH="1">
            <a:off x="6108170" y="91545"/>
            <a:ext cx="6080655" cy="608065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 flipH="1">
            <a:off x="7235825" y="228600"/>
            <a:ext cx="4953000" cy="4953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 flipH="1">
            <a:off x="7335837" y="32278"/>
            <a:ext cx="4852989" cy="485298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 flipH="1">
            <a:off x="7845426" y="609601"/>
            <a:ext cx="4343399" cy="434339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ím és tartal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zakaszfejlé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1" y="2006600"/>
            <a:ext cx="8534401" cy="2281600"/>
          </a:xfrm>
        </p:spPr>
        <p:txBody>
          <a:bodyPr anchor="b">
            <a:normAutofit/>
          </a:bodyPr>
          <a:lstStyle>
            <a:lvl1pPr algn="l">
              <a:defRPr sz="3600" b="0" cap="all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495800"/>
            <a:ext cx="8534400" cy="14986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tartalomrész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4211" y="685800"/>
            <a:ext cx="4937655" cy="3615267"/>
          </a:xfrm>
        </p:spPr>
        <p:txBody>
          <a:bodyPr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08133" y="685801"/>
            <a:ext cx="4934479" cy="3615266"/>
          </a:xfrm>
        </p:spPr>
        <p:txBody>
          <a:bodyPr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10/13/2025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Összehasonlít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2080" y="685800"/>
            <a:ext cx="464978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4211" y="1270529"/>
            <a:ext cx="4937655" cy="3030538"/>
          </a:xfrm>
        </p:spPr>
        <p:txBody>
          <a:bodyPr anchor="t"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79066" y="685800"/>
            <a:ext cx="466513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06545" y="1262062"/>
            <a:ext cx="4929188" cy="3030538"/>
          </a:xfrm>
        </p:spPr>
        <p:txBody>
          <a:bodyPr anchor="t"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10/13/2025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sak cí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10/13/2025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Ü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10/13/2025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Tartalomrész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85012" y="685800"/>
            <a:ext cx="3657600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4212" y="685800"/>
            <a:ext cx="5943601" cy="5308600"/>
          </a:xfrm>
        </p:spPr>
        <p:txBody>
          <a:bodyPr anchor="ctr"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085012" y="2209799"/>
            <a:ext cx="3657600" cy="2091267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10/13/2025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2812" y="1447800"/>
            <a:ext cx="6019800" cy="11430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89012" y="914400"/>
            <a:ext cx="3280974" cy="45720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hu-HU"/>
              <a:t>Kép beszúrásához kattintson az ikonra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2812" y="2777066"/>
            <a:ext cx="6021388" cy="2048933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10/13/2025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áma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3"/>
          </p:nvPr>
        </p:nvSpPr>
        <p:spPr>
          <a:xfrm>
            <a:off x="685800" y="533400"/>
            <a:ext cx="10818812" cy="31242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hu-HU"/>
              <a:t>Kép beszúrásához kattintson az ikonra</a:t>
            </a:r>
            <a:endParaRPr lang="en-US" dirty="0"/>
          </a:p>
        </p:txBody>
      </p:sp>
      <p:sp>
        <p:nvSpPr>
          <p:cNvPr id="16" name="Text Placeholder 9"/>
          <p:cNvSpPr>
            <a:spLocks noGrp="1"/>
          </p:cNvSpPr>
          <p:nvPr>
            <p:ph type="body" sz="quarter" idx="14"/>
          </p:nvPr>
        </p:nvSpPr>
        <p:spPr>
          <a:xfrm>
            <a:off x="914402" y="3843867"/>
            <a:ext cx="8304210" cy="457200"/>
          </a:xfrm>
        </p:spPr>
        <p:txBody>
          <a:bodyPr anchor="t">
            <a:normAutofit/>
          </a:bodyPr>
          <a:lstStyle>
            <a:lvl1pPr marL="0" indent="0">
              <a:buFontTx/>
              <a:buNone/>
              <a:defRPr sz="16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10/13/2025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ím és képaláír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anchor="ctr">
            <a:normAutofit/>
          </a:bodyPr>
          <a:lstStyle>
            <a:lvl1pPr algn="l">
              <a:defRPr sz="3200" b="0" cap="all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4114800"/>
            <a:ext cx="8535988" cy="18796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dézet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85800"/>
            <a:ext cx="9144001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46212" y="3429000"/>
            <a:ext cx="8534400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301067"/>
            <a:ext cx="8534400" cy="1684865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évkárty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2" y="3429000"/>
            <a:ext cx="8534400" cy="1697400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5132981"/>
            <a:ext cx="8535990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évkártya idézet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85800"/>
            <a:ext cx="9144000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1" cy="1049866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hu-HU"/>
              <a:t>Mintaszöveg szerkesztése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978400"/>
            <a:ext cx="8534401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gaz vagy ham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0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hu-HU"/>
              <a:t>Mintaszöveg szerkesztése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766732"/>
            <a:ext cx="8534401" cy="12276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Cím és függőlege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Függőleges cím é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85212" y="685800"/>
            <a:ext cx="2057400" cy="4572000"/>
          </a:xfrm>
        </p:spPr>
        <p:txBody>
          <a:bodyPr vert="eaVert"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85800"/>
            <a:ext cx="7823200" cy="5308600"/>
          </a:xfrm>
        </p:spPr>
        <p:txBody>
          <a:bodyPr vert="eaVert" anchor="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9206969" y="2963333"/>
            <a:ext cx="2981858" cy="3208867"/>
            <a:chOff x="9206969" y="2963333"/>
            <a:chExt cx="2981858" cy="3208867"/>
          </a:xfrm>
        </p:grpSpPr>
        <p:cxnSp>
          <p:nvCxnSpPr>
            <p:cNvPr id="8" name="Straight Connector 7"/>
            <p:cNvCxnSpPr/>
            <p:nvPr/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 flipH="1">
              <a:off x="9206969" y="3190344"/>
              <a:ext cx="2981857" cy="2981856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4212" y="4487332"/>
            <a:ext cx="8534400" cy="15070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685800"/>
            <a:ext cx="8534400" cy="36152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904412" y="617220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B61BEF0D-F0BB-DE4B-95CE-6DB70DBA9567}" type="datetimeFigureOut">
              <a:rPr lang="en-US" dirty="0"/>
              <a:pPr/>
              <a:t>10/13/2025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4212" y="6172200"/>
            <a:ext cx="75438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63200" y="5578475"/>
            <a:ext cx="1142245" cy="6699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32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0" r:id="rId9"/>
    <p:sldLayoutId id="2147483668" r:id="rId10"/>
    <p:sldLayoutId id="2147483663" r:id="rId11"/>
    <p:sldLayoutId id="2147483664" r:id="rId12"/>
    <p:sldLayoutId id="2147483665" r:id="rId13"/>
    <p:sldLayoutId id="2147483666" r:id="rId14"/>
    <p:sldLayoutId id="2147483667" r:id="rId15"/>
    <p:sldLayoutId id="2147483658" r:id="rId16"/>
    <p:sldLayoutId id="2147483659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20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8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6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5" Type="http://schemas.microsoft.com/office/2007/relationships/hdphoto" Target="../media/hdphoto3.wdp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microsoft.com/office/2007/relationships/hdphoto" Target="../media/hdphoto4.wdp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498C3909-AD63-490F-8597-58EE125A15C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hu-HU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JetBrains"/>
              </a:rPr>
              <a:t>Zsarolóvírus (</a:t>
            </a:r>
            <a:r>
              <a:rPr lang="hu-HU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JetBrains"/>
              </a:rPr>
              <a:t>ransomware</a:t>
            </a:r>
            <a:r>
              <a:rPr lang="hu-HU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JetBrains"/>
              </a:rPr>
              <a:t>)</a:t>
            </a:r>
          </a:p>
        </p:txBody>
      </p:sp>
      <p:sp>
        <p:nvSpPr>
          <p:cNvPr id="3" name="Alcím 2">
            <a:extLst>
              <a:ext uri="{FF2B5EF4-FFF2-40B4-BE49-F238E27FC236}">
                <a16:creationId xmlns:a16="http://schemas.microsoft.com/office/drawing/2014/main" id="{DAFF3E70-FE78-4F37-91D3-ACCAB25CFBB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hu-HU" b="1" dirty="0">
                <a:latin typeface="JetBrains"/>
              </a:rPr>
              <a:t>Micsoda ez pontosan?</a:t>
            </a:r>
          </a:p>
          <a:p>
            <a:r>
              <a:rPr lang="hu-HU" b="1" dirty="0">
                <a:latin typeface="JetBrains"/>
              </a:rPr>
              <a:t>Hogyan védekezz ellene?</a:t>
            </a:r>
          </a:p>
        </p:txBody>
      </p:sp>
      <p:pic>
        <p:nvPicPr>
          <p:cNvPr id="6" name="Picture 5" descr="A blue poster with white text&#10;&#10;AI-generated content may be incorrect.">
            <a:extLst>
              <a:ext uri="{FF2B5EF4-FFF2-40B4-BE49-F238E27FC236}">
                <a16:creationId xmlns:a16="http://schemas.microsoft.com/office/drawing/2014/main" id="{D17AD081-7355-EE96-40F7-9DFE54E9CA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56729" y="536275"/>
            <a:ext cx="3856966" cy="57854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70962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6EBECDE7-E8D3-4062-BAD0-56FFD15B46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95631" y="575439"/>
            <a:ext cx="3037685" cy="1507067"/>
          </a:xfrm>
        </p:spPr>
        <p:txBody>
          <a:bodyPr>
            <a:normAutofit/>
          </a:bodyPr>
          <a:lstStyle/>
          <a:p>
            <a:r>
              <a:rPr lang="hu-HU" sz="4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JetBrains"/>
              </a:rPr>
              <a:t>működése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1D7209F9-CB31-4ED9-8AA3-2D85C9E98025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84212" y="1928618"/>
            <a:ext cx="5860521" cy="31700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hu-HU" altLang="hu-H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JetBrains"/>
              </a:rPr>
              <a:t> A </a:t>
            </a:r>
            <a:r>
              <a:rPr kumimoji="0" lang="hu-HU" altLang="hu-HU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JetBrains"/>
              </a:rPr>
              <a:t>ransomware</a:t>
            </a:r>
            <a:r>
              <a:rPr kumimoji="0" lang="hu-HU" altLang="hu-H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JetBrains"/>
              </a:rPr>
              <a:t> egy </a:t>
            </a:r>
            <a:r>
              <a:rPr kumimoji="0" lang="hu-HU" altLang="hu-HU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JetBrains"/>
              </a:rPr>
              <a:t>kártékony zsaroló program</a:t>
            </a:r>
            <a:r>
              <a:rPr kumimoji="0" lang="hu-HU" altLang="hu-H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JetBrains"/>
              </a:rPr>
              <a:t>, amely </a:t>
            </a:r>
            <a:r>
              <a:rPr kumimoji="0" lang="hu-HU" altLang="hu-HU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JetBrains"/>
              </a:rPr>
              <a:t>titkosítja</a:t>
            </a:r>
            <a:r>
              <a:rPr kumimoji="0" lang="hu-HU" altLang="hu-H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JetBrains"/>
              </a:rPr>
              <a:t> a számítógépen vagy hálózaton lévő fájlokat.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hu-HU" altLang="hu-HU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JetBrains"/>
            </a:endParaRP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hu-HU" altLang="hu-H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JetBrains"/>
              </a:rPr>
              <a:t> A támadók ezután </a:t>
            </a:r>
            <a:r>
              <a:rPr kumimoji="0" lang="hu-HU" altLang="hu-HU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JetBrains"/>
              </a:rPr>
              <a:t>váltságdíjat követelnek</a:t>
            </a:r>
            <a:r>
              <a:rPr kumimoji="0" lang="hu-HU" altLang="hu-H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JetBrains"/>
              </a:rPr>
              <a:t> (általában </a:t>
            </a:r>
            <a:r>
              <a:rPr kumimoji="0" lang="hu-HU" altLang="hu-HU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JetBrains"/>
              </a:rPr>
              <a:t>kriptovalutában</a:t>
            </a:r>
            <a:r>
              <a:rPr kumimoji="0" lang="hu-HU" altLang="hu-H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JetBrains"/>
              </a:rPr>
              <a:t>), hogy visszaadják a hozzáférést.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hu-HU" altLang="hu-HU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JetBrains"/>
            </a:endParaRP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hu-HU" altLang="hu-H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JetBrains"/>
              </a:rPr>
              <a:t> Gyakran </a:t>
            </a:r>
            <a:r>
              <a:rPr kumimoji="0" lang="hu-HU" altLang="hu-HU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JetBrains"/>
              </a:rPr>
              <a:t>social</a:t>
            </a:r>
            <a:r>
              <a:rPr kumimoji="0" lang="hu-HU" altLang="hu-HU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JetBrains"/>
              </a:rPr>
              <a:t> </a:t>
            </a:r>
            <a:r>
              <a:rPr kumimoji="0" lang="hu-HU" altLang="hu-HU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JetBrains"/>
              </a:rPr>
              <a:t>engineering</a:t>
            </a:r>
            <a:r>
              <a:rPr kumimoji="0" lang="hu-HU" altLang="hu-H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JetBrains"/>
              </a:rPr>
              <a:t> módszerekkel (pl. megtévesztő e-mailek, hamis linkek) juttatják el az áldozathoz.</a:t>
            </a:r>
          </a:p>
        </p:txBody>
      </p:sp>
      <p:pic>
        <p:nvPicPr>
          <p:cNvPr id="3" name="Kép 4">
            <a:extLst>
              <a:ext uri="{FF2B5EF4-FFF2-40B4-BE49-F238E27FC236}">
                <a16:creationId xmlns:a16="http://schemas.microsoft.com/office/drawing/2014/main" id="{C2E73886-9398-364F-169F-A47CD50E52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84623" y="2307805"/>
            <a:ext cx="5083960" cy="22423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5036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6EBECDE7-E8D3-4062-BAD0-56FFD15B46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94000" y="584199"/>
            <a:ext cx="8534400" cy="1507067"/>
          </a:xfrm>
        </p:spPr>
        <p:txBody>
          <a:bodyPr>
            <a:normAutofit/>
          </a:bodyPr>
          <a:lstStyle/>
          <a:p>
            <a:pPr algn="r"/>
            <a:r>
              <a:rPr lang="hu-HU" sz="4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JetBrains"/>
              </a:rPr>
              <a:t>Valós élethelyzetek</a:t>
            </a:r>
          </a:p>
        </p:txBody>
      </p:sp>
      <p:sp>
        <p:nvSpPr>
          <p:cNvPr id="3" name="Szövegdoboz 2">
            <a:extLst>
              <a:ext uri="{FF2B5EF4-FFF2-40B4-BE49-F238E27FC236}">
                <a16:creationId xmlns:a16="http://schemas.microsoft.com/office/drawing/2014/main" id="{F1EA6E10-EC3C-4315-9F88-FBEA02E85097}"/>
              </a:ext>
            </a:extLst>
          </p:cNvPr>
          <p:cNvSpPr txBox="1"/>
          <p:nvPr/>
        </p:nvSpPr>
        <p:spPr>
          <a:xfrm>
            <a:off x="1312333" y="1851043"/>
            <a:ext cx="296333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hu-HU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JetBrains"/>
              </a:rPr>
              <a:t>Munkahelyi e-mail (Hamis számla)</a:t>
            </a:r>
            <a:endParaRPr lang="hu-HU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JetBrain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C85F83F-DBE7-7BD6-0717-E858B1B5FB96}"/>
              </a:ext>
            </a:extLst>
          </p:cNvPr>
          <p:cNvSpPr txBox="1"/>
          <p:nvPr/>
        </p:nvSpPr>
        <p:spPr>
          <a:xfrm>
            <a:off x="621895" y="2960244"/>
            <a:ext cx="4749710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JetBrains"/>
              </a:rPr>
              <a:t>Egy </a:t>
            </a:r>
            <a:r>
              <a:rPr lang="en-US" sz="24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JetBrains"/>
              </a:rPr>
              <a:t>hamis</a:t>
            </a:r>
            <a:r>
              <a:rPr 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JetBrains"/>
              </a:rPr>
              <a:t> </a:t>
            </a:r>
            <a:r>
              <a:rPr lang="en-US" sz="24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JetBrains"/>
              </a:rPr>
              <a:t>számlát</a:t>
            </a:r>
            <a:r>
              <a:rPr 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JetBrains"/>
              </a:rPr>
              <a:t> </a:t>
            </a:r>
            <a:r>
              <a:rPr lang="en-US" sz="24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JetBrains"/>
              </a:rPr>
              <a:t>tartalmazó</a:t>
            </a:r>
            <a:r>
              <a:rPr 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JetBrains"/>
              </a:rPr>
              <a:t> e-mail </a:t>
            </a:r>
            <a:r>
              <a:rPr lang="en-US" sz="24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JetBrains"/>
              </a:rPr>
              <a:t>csatolmányával</a:t>
            </a:r>
            <a:r>
              <a:rPr 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JetBrains"/>
              </a:rPr>
              <a:t> </a:t>
            </a:r>
            <a:r>
              <a:rPr lang="en-US" sz="24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JetBrains"/>
              </a:rPr>
              <a:t>az</a:t>
            </a:r>
            <a:r>
              <a:rPr 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JetBrains"/>
              </a:rPr>
              <a:t> </a:t>
            </a:r>
            <a:r>
              <a:rPr lang="en-US" sz="24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JetBrains"/>
              </a:rPr>
              <a:t>egész</a:t>
            </a:r>
            <a:r>
              <a:rPr 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JetBrains"/>
              </a:rPr>
              <a:t> </a:t>
            </a:r>
            <a:r>
              <a:rPr lang="en-US" sz="24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JetBrains"/>
              </a:rPr>
              <a:t>céges</a:t>
            </a:r>
            <a:r>
              <a:rPr 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JetBrains"/>
              </a:rPr>
              <a:t> </a:t>
            </a:r>
            <a:r>
              <a:rPr lang="en-US" sz="24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JetBrains"/>
              </a:rPr>
              <a:t>hálózatot</a:t>
            </a:r>
            <a:r>
              <a:rPr 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JetBrains"/>
              </a:rPr>
              <a:t> </a:t>
            </a:r>
            <a:r>
              <a:rPr lang="en-US" sz="24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JetBrains"/>
              </a:rPr>
              <a:t>megfertőzheti</a:t>
            </a:r>
            <a:r>
              <a:rPr 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JetBrains"/>
              </a:rPr>
              <a:t> </a:t>
            </a:r>
            <a:r>
              <a:rPr lang="en-US" sz="24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JetBrains"/>
              </a:rPr>
              <a:t>egy</a:t>
            </a:r>
            <a:r>
              <a:rPr 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JetBrains"/>
              </a:rPr>
              <a:t> </a:t>
            </a:r>
            <a:r>
              <a:rPr lang="en-US" sz="24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JetBrains"/>
              </a:rPr>
              <a:t>zsarolóvírus</a:t>
            </a:r>
            <a:r>
              <a:rPr 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JetBrains"/>
              </a:rPr>
              <a:t>, </a:t>
            </a:r>
            <a:r>
              <a:rPr lang="en-US" sz="24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JetBrains"/>
              </a:rPr>
              <a:t>megbénítva</a:t>
            </a:r>
            <a:r>
              <a:rPr 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JetBrains"/>
              </a:rPr>
              <a:t> a </a:t>
            </a:r>
            <a:r>
              <a:rPr lang="en-US" sz="24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JetBrains"/>
              </a:rPr>
              <a:t>munkát</a:t>
            </a:r>
            <a:r>
              <a:rPr 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JetBrains"/>
              </a:rPr>
              <a:t>.</a:t>
            </a:r>
          </a:p>
        </p:txBody>
      </p:sp>
      <p:pic>
        <p:nvPicPr>
          <p:cNvPr id="9" name="Picture 8" descr="A black and white building with many windows&#10;&#10;AI-generated content may be incorrect.">
            <a:extLst>
              <a:ext uri="{FF2B5EF4-FFF2-40B4-BE49-F238E27FC236}">
                <a16:creationId xmlns:a16="http://schemas.microsoft.com/office/drawing/2014/main" id="{F340CB8A-1D66-0FC5-C20C-824E0FF4948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2750" b="96250" l="6500" r="94000">
                        <a14:foregroundMark x1="31125" y1="11250" x2="44500" y2="12000"/>
                        <a14:foregroundMark x1="44500" y1="12000" x2="19125" y2="14875"/>
                        <a14:foregroundMark x1="19125" y1="14875" x2="16000" y2="16250"/>
                        <a14:foregroundMark x1="26125" y1="13125" x2="31125" y2="7250"/>
                        <a14:foregroundMark x1="29125" y1="2750" x2="32250" y2="3500"/>
                        <a14:foregroundMark x1="18500" y1="17250" x2="9000" y2="23875"/>
                        <a14:foregroundMark x1="9000" y1="23875" x2="5750" y2="35500"/>
                        <a14:foregroundMark x1="12979" y1="35758" x2="16250" y2="35875"/>
                        <a14:foregroundMark x1="8632" y1="35603" x2="8954" y2="35615"/>
                        <a14:foregroundMark x1="8405" y1="35595" x2="8177" y2="35587"/>
                        <a14:foregroundMark x1="5750" y1="35500" x2="8043" y2="35582"/>
                        <a14:foregroundMark x1="16250" y1="35875" x2="28875" y2="31875"/>
                        <a14:foregroundMark x1="28875" y1="31875" x2="38875" y2="31750"/>
                        <a14:foregroundMark x1="38875" y1="31750" x2="63000" y2="35250"/>
                        <a14:foregroundMark x1="63000" y1="35250" x2="73250" y2="26125"/>
                        <a14:foregroundMark x1="73250" y1="26125" x2="70500" y2="38500"/>
                        <a14:foregroundMark x1="70500" y1="38500" x2="71875" y2="48250"/>
                        <a14:foregroundMark x1="71875" y1="48250" x2="81125" y2="52625"/>
                        <a14:foregroundMark x1="81125" y1="52625" x2="91375" y2="53625"/>
                        <a14:foregroundMark x1="91375" y1="53625" x2="91750" y2="53750"/>
                        <a14:foregroundMark x1="34500" y1="9500" x2="53000" y2="15625"/>
                        <a14:foregroundMark x1="53000" y1="15625" x2="53000" y2="15750"/>
                        <a14:foregroundMark x1="29500" y1="48250" x2="30625" y2="72625"/>
                        <a14:foregroundMark x1="29750" y1="96250" x2="30625" y2="85000"/>
                        <a14:foregroundMark x1="5625" y1="41375" x2="6500" y2="63875"/>
                        <a14:foregroundMark x1="6500" y1="63875" x2="6500" y2="63875"/>
                        <a14:foregroundMark x1="68750" y1="80500" x2="68250" y2="64000"/>
                        <a14:foregroundMark x1="93250" y1="35000" x2="94000" y2="75750"/>
                        <a14:backgroundMark x1="9000" y1="36875" x2="10625" y2="34625"/>
                        <a14:backgroundMark x1="10875" y1="36125" x2="11500" y2="35500"/>
                        <a14:backgroundMark x1="11125" y1="35250" x2="8875" y2="35500"/>
                        <a14:backgroundMark x1="9000" y1="35875" x2="8125" y2="32750"/>
                        <a14:backgroundMark x1="8375" y1="36625" x2="8375" y2="35500"/>
                        <a14:backgroundMark x1="11250" y1="35875" x2="13125" y2="35500"/>
                        <a14:backgroundMark x1="8625" y1="35625" x2="8875" y2="33250"/>
                        <a14:backgroundMark x1="8625" y1="29375" x2="8500" y2="28250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634156" y="2328097"/>
            <a:ext cx="3218315" cy="3218315"/>
          </a:xfrm>
          <a:prstGeom prst="rect">
            <a:avLst/>
          </a:prstGeom>
        </p:spPr>
      </p:pic>
      <p:pic>
        <p:nvPicPr>
          <p:cNvPr id="11" name="Picture 10" descr="A red exclamation mark in a circle&#10;&#10;AI-generated content may be incorrect.">
            <a:extLst>
              <a:ext uri="{FF2B5EF4-FFF2-40B4-BE49-F238E27FC236}">
                <a16:creationId xmlns:a16="http://schemas.microsoft.com/office/drawing/2014/main" id="{F19AF08F-B1B6-EA54-99A7-7C4E1371815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73240" y="2427633"/>
            <a:ext cx="3019245" cy="30192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19413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A3890A-7B4F-832B-81E9-1F85887F41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EB601694-4D4F-B566-2869-E4CB266BDE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7607" y="620456"/>
            <a:ext cx="5574581" cy="1507067"/>
          </a:xfrm>
        </p:spPr>
        <p:txBody>
          <a:bodyPr>
            <a:normAutofit/>
          </a:bodyPr>
          <a:lstStyle/>
          <a:p>
            <a:pPr algn="r"/>
            <a:r>
              <a:rPr lang="hu-HU" sz="4400" b="1" noProof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JetBrains"/>
              </a:rPr>
              <a:t>Valós élethelyzetek</a:t>
            </a:r>
          </a:p>
        </p:txBody>
      </p:sp>
      <p:sp>
        <p:nvSpPr>
          <p:cNvPr id="3" name="Szövegdoboz 2">
            <a:extLst>
              <a:ext uri="{FF2B5EF4-FFF2-40B4-BE49-F238E27FC236}">
                <a16:creationId xmlns:a16="http://schemas.microsoft.com/office/drawing/2014/main" id="{56DD4A84-A0CC-411B-5B57-1C20578AA385}"/>
              </a:ext>
            </a:extLst>
          </p:cNvPr>
          <p:cNvSpPr txBox="1"/>
          <p:nvPr/>
        </p:nvSpPr>
        <p:spPr>
          <a:xfrm>
            <a:off x="7774127" y="2272901"/>
            <a:ext cx="3345932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hu-HU" sz="2800" b="1" noProof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JetBrains"/>
              </a:rPr>
              <a:t>Online</a:t>
            </a:r>
          </a:p>
          <a:p>
            <a:pPr algn="ctr"/>
            <a:r>
              <a:rPr lang="hu-HU" sz="2800" b="1" noProof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JetBrains"/>
              </a:rPr>
              <a:t>(Ingyenes program)</a:t>
            </a:r>
            <a:endParaRPr lang="hu-HU" b="1" noProof="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JetBrain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6B6FF4F-2225-5FA0-5351-8F57D4430E84}"/>
              </a:ext>
            </a:extLst>
          </p:cNvPr>
          <p:cNvSpPr txBox="1"/>
          <p:nvPr/>
        </p:nvSpPr>
        <p:spPr>
          <a:xfrm>
            <a:off x="7486733" y="3227008"/>
            <a:ext cx="3920720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hu-HU" sz="2400" noProof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JetBrains"/>
              </a:rPr>
              <a:t>Egy illegális szoftver telepítője zsarolóvírust rejthet, ami </a:t>
            </a:r>
            <a:r>
              <a:rPr lang="hu-HU" sz="2400" noProof="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JetBrains"/>
              </a:rPr>
              <a:t>titkosítja</a:t>
            </a:r>
            <a:r>
              <a:rPr lang="hu-HU" sz="2400" noProof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JetBrains"/>
              </a:rPr>
              <a:t> a felhasználó összes személyes fájlját.</a:t>
            </a:r>
          </a:p>
        </p:txBody>
      </p:sp>
      <p:pic>
        <p:nvPicPr>
          <p:cNvPr id="8" name="Picture 7" descr="A black arrow pointing down">
            <a:extLst>
              <a:ext uri="{FF2B5EF4-FFF2-40B4-BE49-F238E27FC236}">
                <a16:creationId xmlns:a16="http://schemas.microsoft.com/office/drawing/2014/main" id="{91EEE506-FE0F-AB3A-9F03-2B4789BA2FB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1196" l="2935" r="96957">
                        <a14:foregroundMark x1="49022" y1="18370" x2="50326" y2="48478"/>
                        <a14:foregroundMark x1="50326" y1="48478" x2="39565" y2="51522"/>
                        <a14:foregroundMark x1="39565" y1="51522" x2="61087" y2="54348"/>
                        <a14:foregroundMark x1="61087" y1="54348" x2="69022" y2="43587"/>
                        <a14:foregroundMark x1="3804" y1="66196" x2="7500" y2="83913"/>
                        <a14:foregroundMark x1="7500" y1="83913" x2="18478" y2="87500"/>
                        <a14:foregroundMark x1="18478" y1="87500" x2="41196" y2="88370"/>
                        <a14:foregroundMark x1="41196" y1="88370" x2="78913" y2="87609"/>
                        <a14:foregroundMark x1="78913" y1="87609" x2="92609" y2="81739"/>
                        <a14:foregroundMark x1="92609" y1="81739" x2="93696" y2="63152"/>
                        <a14:foregroundMark x1="49891" y1="12391" x2="50217" y2="24239"/>
                        <a14:foregroundMark x1="39674" y1="55000" x2="29457" y2="45870"/>
                        <a14:foregroundMark x1="5109" y1="65217" x2="4239" y2="82935"/>
                        <a14:foregroundMark x1="4239" y1="82935" x2="4239" y2="82935"/>
                        <a14:foregroundMark x1="4239" y1="91413" x2="15978" y2="91413"/>
                        <a14:foregroundMark x1="15978" y1="91413" x2="26413" y2="91087"/>
                        <a14:foregroundMark x1="96957" y1="88804" x2="96957" y2="65217"/>
                        <a14:foregroundMark x1="47174" y1="58043" x2="50870" y2="60326"/>
                        <a14:foregroundMark x1="8696" y1="65000" x2="4022" y2="61957"/>
                        <a14:foregroundMark x1="1957" y1="81522" x2="2935" y2="64565"/>
                        <a14:foregroundMark x1="2935" y1="64565" x2="5870" y2="60652"/>
                        <a14:backgroundMark x1="7065" y1="41196" x2="7500" y2="23043"/>
                        <a14:backgroundMark x1="7065" y1="19783" x2="15870" y2="7283"/>
                        <a14:backgroundMark x1="15870" y1="7283" x2="48261" y2="4891"/>
                        <a14:backgroundMark x1="48261" y1="4891" x2="86957" y2="8804"/>
                        <a14:backgroundMark x1="86957" y1="8804" x2="95978" y2="31196"/>
                        <a14:backgroundMark x1="95978" y1="31196" x2="95109" y2="45000"/>
                        <a14:backgroundMark x1="15870" y1="51739" x2="23152" y2="60761"/>
                        <a14:backgroundMark x1="23152" y1="60761" x2="45978" y2="74565"/>
                        <a14:backgroundMark x1="45978" y1="74565" x2="48804" y2="75109"/>
                        <a14:backgroundMark x1="56957" y1="73696" x2="85761" y2="58152"/>
                        <a14:backgroundMark x1="85761" y1="58152" x2="87935" y2="54348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477607" y="2393102"/>
            <a:ext cx="3046988" cy="3046988"/>
          </a:xfrm>
          <a:prstGeom prst="rect">
            <a:avLst/>
          </a:prstGeom>
        </p:spPr>
      </p:pic>
      <p:pic>
        <p:nvPicPr>
          <p:cNvPr id="12" name="Picture 11" descr="A red circle with a white exclamation mark">
            <a:extLst>
              <a:ext uri="{FF2B5EF4-FFF2-40B4-BE49-F238E27FC236}">
                <a16:creationId xmlns:a16="http://schemas.microsoft.com/office/drawing/2014/main" id="{BE064C51-25DA-D069-883B-765F2C3E5BA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327" b="95918" l="1633" r="96531">
                        <a14:foregroundMark x1="26224" y1="39898" x2="29490" y2="71122"/>
                        <a14:foregroundMark x1="29490" y1="71122" x2="17347" y2="63980"/>
                        <a14:foregroundMark x1="17347" y1="63980" x2="17755" y2="36429"/>
                        <a14:foregroundMark x1="17755" y1="36429" x2="28163" y2="17755"/>
                        <a14:foregroundMark x1="28163" y1="17755" x2="40510" y2="10510"/>
                        <a14:foregroundMark x1="40510" y1="10510" x2="54490" y2="8265"/>
                        <a14:foregroundMark x1="54490" y1="8265" x2="63469" y2="14592"/>
                        <a14:foregroundMark x1="63469" y1="14592" x2="64184" y2="51020"/>
                        <a14:foregroundMark x1="64184" y1="51020" x2="72551" y2="42143"/>
                        <a14:foregroundMark x1="72551" y1="42143" x2="76122" y2="24388"/>
                        <a14:foregroundMark x1="76122" y1="24388" x2="84898" y2="32653"/>
                        <a14:foregroundMark x1="84898" y1="32653" x2="90408" y2="50306"/>
                        <a14:foregroundMark x1="90408" y1="50306" x2="88878" y2="65306"/>
                        <a14:foregroundMark x1="88878" y1="65306" x2="80306" y2="81429"/>
                        <a14:foregroundMark x1="80306" y1="81429" x2="75714" y2="56224"/>
                        <a14:foregroundMark x1="75714" y1="56224" x2="66429" y2="66429"/>
                        <a14:foregroundMark x1="66429" y1="66429" x2="65000" y2="83265"/>
                        <a14:foregroundMark x1="65000" y1="83265" x2="49898" y2="94592"/>
                        <a14:foregroundMark x1="49898" y1="94592" x2="36531" y2="90612"/>
                        <a14:foregroundMark x1="36531" y1="90612" x2="33878" y2="77857"/>
                        <a14:foregroundMark x1="33878" y1="77857" x2="23367" y2="79082"/>
                        <a14:foregroundMark x1="23367" y1="79082" x2="12755" y2="70714"/>
                        <a14:foregroundMark x1="12755" y1="70714" x2="6429" y2="50714"/>
                        <a14:foregroundMark x1="6429" y1="50714" x2="8163" y2="33367"/>
                        <a14:foregroundMark x1="8163" y1="33367" x2="20714" y2="22143"/>
                        <a14:foregroundMark x1="20714" y1="22143" x2="31122" y2="28265"/>
                        <a14:foregroundMark x1="31122" y1="28265" x2="35102" y2="49796"/>
                        <a14:foregroundMark x1="3673" y1="58878" x2="5816" y2="38367"/>
                        <a14:foregroundMark x1="11939" y1="30408" x2="35510" y2="5816"/>
                        <a14:foregroundMark x1="35510" y1="5816" x2="47449" y2="4286"/>
                        <a14:foregroundMark x1="94490" y1="38367" x2="96531" y2="56327"/>
                        <a14:foregroundMark x1="1633" y1="58367" x2="2041" y2="43265"/>
                        <a14:foregroundMark x1="35102" y1="95918" x2="53265" y2="96020"/>
                        <a14:foregroundMark x1="53265" y1="96020" x2="60816" y2="95510"/>
                        <a14:foregroundMark x1="43673" y1="1327" x2="56122" y2="1735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781353" y="2328097"/>
            <a:ext cx="2998153" cy="29981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68277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5D962A-C740-3788-8DB2-290E851A28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54988" y="299773"/>
            <a:ext cx="5282022" cy="1507067"/>
          </a:xfrm>
        </p:spPr>
        <p:txBody>
          <a:bodyPr>
            <a:normAutofit/>
          </a:bodyPr>
          <a:lstStyle/>
          <a:p>
            <a:pPr algn="ctr"/>
            <a:r>
              <a:rPr lang="hu-HU" sz="4400" b="1" noProof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JetBrains"/>
              </a:rPr>
              <a:t>Hogyan védekezz?</a:t>
            </a:r>
            <a:br>
              <a:rPr lang="hu-HU" sz="4400" b="1" noProof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JetBrains"/>
              </a:rPr>
            </a:br>
            <a:r>
              <a:rPr lang="hu-HU" sz="3200" noProof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JetBrains"/>
              </a:rPr>
              <a:t>3 Aranyszabály</a:t>
            </a:r>
            <a:endParaRPr lang="hu-HU" sz="4400" b="1" noProof="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JetBrains"/>
            </a:endParaRPr>
          </a:p>
        </p:txBody>
      </p:sp>
      <p:pic>
        <p:nvPicPr>
          <p:cNvPr id="5" name="Picture 4" descr="A green shield with a check mark&#10;&#10;AI-generated content may be incorrect.">
            <a:extLst>
              <a:ext uri="{FF2B5EF4-FFF2-40B4-BE49-F238E27FC236}">
                <a16:creationId xmlns:a16="http://schemas.microsoft.com/office/drawing/2014/main" id="{CC6A599E-F8E1-E8D6-9166-996F394B41F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4245325" y="1796194"/>
            <a:ext cx="3701348" cy="336994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9B61763-334A-74DB-C9B2-3617C8197EFD}"/>
              </a:ext>
            </a:extLst>
          </p:cNvPr>
          <p:cNvSpPr txBox="1"/>
          <p:nvPr/>
        </p:nvSpPr>
        <p:spPr>
          <a:xfrm>
            <a:off x="1047039" y="1659540"/>
            <a:ext cx="247475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hu-HU" sz="2400" b="1" noProof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JetBrains"/>
              </a:rPr>
              <a:t>1. Légy gyanakvó!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1DA1068-5616-150A-920F-3A5ED84B1157}"/>
              </a:ext>
            </a:extLst>
          </p:cNvPr>
          <p:cNvSpPr txBox="1"/>
          <p:nvPr/>
        </p:nvSpPr>
        <p:spPr>
          <a:xfrm>
            <a:off x="569600" y="2195266"/>
            <a:ext cx="3850885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JetBrains"/>
              </a:rPr>
              <a:t>Egy </a:t>
            </a:r>
            <a:r>
              <a:rPr lang="en-US" sz="24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JetBrains"/>
              </a:rPr>
              <a:t>hamis</a:t>
            </a:r>
            <a:r>
              <a:rPr 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JetBrains"/>
              </a:rPr>
              <a:t> </a:t>
            </a:r>
            <a:r>
              <a:rPr lang="en-US" sz="24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JetBrains"/>
              </a:rPr>
              <a:t>számlát</a:t>
            </a:r>
            <a:r>
              <a:rPr 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JetBrains"/>
              </a:rPr>
              <a:t> </a:t>
            </a:r>
            <a:r>
              <a:rPr lang="en-US" sz="24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JetBrains"/>
              </a:rPr>
              <a:t>tartalmazó</a:t>
            </a:r>
            <a:r>
              <a:rPr 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JetBrains"/>
              </a:rPr>
              <a:t> e-mail </a:t>
            </a:r>
            <a:r>
              <a:rPr lang="en-US" sz="24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JetBrains"/>
              </a:rPr>
              <a:t>csatolmánya</a:t>
            </a:r>
            <a:r>
              <a:rPr 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JetBrains"/>
              </a:rPr>
              <a:t> </a:t>
            </a:r>
            <a:r>
              <a:rPr lang="en-US" sz="24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JetBrains"/>
              </a:rPr>
              <a:t>zsarolóvírussal</a:t>
            </a:r>
            <a:r>
              <a:rPr 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JetBrains"/>
              </a:rPr>
              <a:t> </a:t>
            </a:r>
            <a:r>
              <a:rPr lang="en-US" sz="24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JetBrains"/>
              </a:rPr>
              <a:t>fertőzheti</a:t>
            </a:r>
            <a:r>
              <a:rPr 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JetBrains"/>
              </a:rPr>
              <a:t> meg a </a:t>
            </a:r>
            <a:r>
              <a:rPr lang="en-US" sz="24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JetBrains"/>
              </a:rPr>
              <a:t>teljes</a:t>
            </a:r>
            <a:r>
              <a:rPr 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JetBrains"/>
              </a:rPr>
              <a:t> </a:t>
            </a:r>
            <a:r>
              <a:rPr lang="en-US" sz="24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JetBrains"/>
              </a:rPr>
              <a:t>céges</a:t>
            </a:r>
            <a:r>
              <a:rPr 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JetBrains"/>
              </a:rPr>
              <a:t> </a:t>
            </a:r>
            <a:r>
              <a:rPr lang="en-US" sz="24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JetBrains"/>
              </a:rPr>
              <a:t>hálózatot</a:t>
            </a:r>
            <a:r>
              <a:rPr 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JetBrains"/>
              </a:rPr>
              <a:t>, </a:t>
            </a:r>
            <a:r>
              <a:rPr lang="en-US" sz="24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JetBrains"/>
              </a:rPr>
              <a:t>megbénítva</a:t>
            </a:r>
            <a:r>
              <a:rPr 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JetBrains"/>
              </a:rPr>
              <a:t> a </a:t>
            </a:r>
            <a:r>
              <a:rPr lang="en-US" sz="24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JetBrains"/>
              </a:rPr>
              <a:t>munkát</a:t>
            </a:r>
            <a:r>
              <a:rPr 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JetBrains"/>
              </a:rPr>
              <a:t>.</a:t>
            </a:r>
            <a:endParaRPr lang="hu-HU" sz="2400" noProof="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JetBrains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A493A41-7B2F-3B37-705F-69854A6ECC33}"/>
              </a:ext>
            </a:extLst>
          </p:cNvPr>
          <p:cNvSpPr txBox="1"/>
          <p:nvPr/>
        </p:nvSpPr>
        <p:spPr>
          <a:xfrm>
            <a:off x="7973501" y="1662689"/>
            <a:ext cx="421849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hu-HU" sz="2400" b="1" noProof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JetBrains"/>
              </a:rPr>
              <a:t>2. Készíts biztonsági mentést!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AB453D3-2B75-6B49-7D84-1D1E1B8A9052}"/>
              </a:ext>
            </a:extLst>
          </p:cNvPr>
          <p:cNvSpPr txBox="1"/>
          <p:nvPr/>
        </p:nvSpPr>
        <p:spPr>
          <a:xfrm>
            <a:off x="8096210" y="2141588"/>
            <a:ext cx="3526190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JetBrains"/>
              </a:rPr>
              <a:t>Nem </a:t>
            </a:r>
            <a:r>
              <a:rPr lang="en-US" sz="24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JetBrains"/>
              </a:rPr>
              <a:t>megbízható</a:t>
            </a:r>
            <a:r>
              <a:rPr 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JetBrains"/>
              </a:rPr>
              <a:t> </a:t>
            </a:r>
            <a:r>
              <a:rPr lang="en-US" sz="24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JetBrains"/>
              </a:rPr>
              <a:t>oldalról</a:t>
            </a:r>
            <a:r>
              <a:rPr 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JetBrains"/>
              </a:rPr>
              <a:t> </a:t>
            </a:r>
            <a:r>
              <a:rPr lang="en-US" sz="24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JetBrains"/>
              </a:rPr>
              <a:t>letöltött</a:t>
            </a:r>
            <a:r>
              <a:rPr 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JetBrains"/>
              </a:rPr>
              <a:t>, </a:t>
            </a:r>
            <a:r>
              <a:rPr lang="en-US" sz="24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JetBrains"/>
              </a:rPr>
              <a:t>feltört</a:t>
            </a:r>
            <a:r>
              <a:rPr 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JetBrains"/>
              </a:rPr>
              <a:t> </a:t>
            </a:r>
            <a:r>
              <a:rPr lang="en-US" sz="24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JetBrains"/>
              </a:rPr>
              <a:t>szoftver</a:t>
            </a:r>
            <a:r>
              <a:rPr 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JetBrains"/>
              </a:rPr>
              <a:t> </a:t>
            </a:r>
            <a:r>
              <a:rPr lang="en-US" sz="24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JetBrains"/>
              </a:rPr>
              <a:t>telepítője</a:t>
            </a:r>
            <a:r>
              <a:rPr 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JetBrains"/>
              </a:rPr>
              <a:t> </a:t>
            </a:r>
            <a:r>
              <a:rPr lang="en-US" sz="24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JetBrains"/>
              </a:rPr>
              <a:t>zsarolóvírust</a:t>
            </a:r>
            <a:r>
              <a:rPr 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JetBrains"/>
              </a:rPr>
              <a:t> </a:t>
            </a:r>
            <a:r>
              <a:rPr lang="en-US" sz="24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JetBrains"/>
              </a:rPr>
              <a:t>tartalmazhat</a:t>
            </a:r>
            <a:r>
              <a:rPr 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JetBrains"/>
              </a:rPr>
              <a:t>, </a:t>
            </a:r>
            <a:r>
              <a:rPr lang="en-US" sz="24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JetBrains"/>
              </a:rPr>
              <a:t>ami</a:t>
            </a:r>
            <a:r>
              <a:rPr 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JetBrains"/>
              </a:rPr>
              <a:t> </a:t>
            </a:r>
            <a:r>
              <a:rPr lang="en-US" sz="24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JetBrains"/>
              </a:rPr>
              <a:t>titkosítja</a:t>
            </a:r>
            <a:r>
              <a:rPr 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JetBrains"/>
              </a:rPr>
              <a:t> a </a:t>
            </a:r>
            <a:r>
              <a:rPr lang="en-US" sz="24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JetBrains"/>
              </a:rPr>
              <a:t>személyes</a:t>
            </a:r>
            <a:r>
              <a:rPr 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JetBrains"/>
              </a:rPr>
              <a:t> </a:t>
            </a:r>
            <a:r>
              <a:rPr lang="en-US" sz="24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JetBrains"/>
              </a:rPr>
              <a:t>fájlokat</a:t>
            </a:r>
            <a:r>
              <a:rPr 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JetBrains"/>
              </a:rPr>
              <a:t>.</a:t>
            </a:r>
            <a:endParaRPr lang="hu-HU" sz="2400" noProof="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JetBrains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4E7C4F6-AB58-C222-565E-00C463C372D9}"/>
              </a:ext>
            </a:extLst>
          </p:cNvPr>
          <p:cNvSpPr txBox="1"/>
          <p:nvPr/>
        </p:nvSpPr>
        <p:spPr>
          <a:xfrm>
            <a:off x="5293839" y="4704477"/>
            <a:ext cx="186745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hu-HU" sz="2400" b="1" noProof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JetBrains"/>
              </a:rPr>
              <a:t>3. Frissíts!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5DCC69F-CE7F-9E01-A110-FD715D58E4C9}"/>
              </a:ext>
            </a:extLst>
          </p:cNvPr>
          <p:cNvSpPr txBox="1"/>
          <p:nvPr/>
        </p:nvSpPr>
        <p:spPr>
          <a:xfrm>
            <a:off x="4245325" y="5092903"/>
            <a:ext cx="4660265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JetBrains"/>
              </a:rPr>
              <a:t>Rendszeresen</a:t>
            </a:r>
            <a:r>
              <a:rPr 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JetBrains"/>
              </a:rPr>
              <a:t> </a:t>
            </a:r>
            <a:r>
              <a:rPr lang="en-US" sz="24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JetBrains"/>
              </a:rPr>
              <a:t>telepítsd</a:t>
            </a:r>
            <a:r>
              <a:rPr 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JetBrains"/>
              </a:rPr>
              <a:t> a</a:t>
            </a:r>
            <a:r>
              <a:rPr lang="hu-HU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JetBrains"/>
              </a:rPr>
              <a:t> </a:t>
            </a:r>
            <a:r>
              <a:rPr lang="en-US" sz="24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JetBrains"/>
              </a:rPr>
              <a:t>szoftverfrissítéseket</a:t>
            </a:r>
            <a:r>
              <a:rPr 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JetBrains"/>
              </a:rPr>
              <a:t>, </a:t>
            </a:r>
            <a:r>
              <a:rPr lang="en-US" sz="24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JetBrains"/>
              </a:rPr>
              <a:t>mert</a:t>
            </a:r>
            <a:r>
              <a:rPr 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JetBrains"/>
              </a:rPr>
              <a:t> </a:t>
            </a:r>
            <a:r>
              <a:rPr lang="en-US" sz="24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JetBrains"/>
              </a:rPr>
              <a:t>azok</a:t>
            </a:r>
            <a:r>
              <a:rPr 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JetBrains"/>
              </a:rPr>
              <a:t> </a:t>
            </a:r>
            <a:r>
              <a:rPr lang="en-US" sz="24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JetBrains"/>
              </a:rPr>
              <a:t>olyan</a:t>
            </a:r>
            <a:r>
              <a:rPr 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JetBrains"/>
              </a:rPr>
              <a:t> </a:t>
            </a:r>
            <a:r>
              <a:rPr lang="en-US" sz="24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JetBrains"/>
              </a:rPr>
              <a:t>biztonsági</a:t>
            </a:r>
            <a:r>
              <a:rPr 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JetBrains"/>
              </a:rPr>
              <a:t> </a:t>
            </a:r>
            <a:r>
              <a:rPr lang="en-US" sz="24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JetBrains"/>
              </a:rPr>
              <a:t>réseket</a:t>
            </a:r>
            <a:r>
              <a:rPr 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JetBrains"/>
              </a:rPr>
              <a:t> </a:t>
            </a:r>
            <a:r>
              <a:rPr lang="en-US" sz="24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JetBrains"/>
              </a:rPr>
              <a:t>javítanak</a:t>
            </a:r>
            <a:r>
              <a:rPr 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JetBrains"/>
              </a:rPr>
              <a:t>, </a:t>
            </a:r>
            <a:r>
              <a:rPr lang="en-US" sz="24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JetBrains"/>
              </a:rPr>
              <a:t>amelyeket</a:t>
            </a:r>
            <a:r>
              <a:rPr 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JetBrains"/>
              </a:rPr>
              <a:t> a </a:t>
            </a:r>
            <a:r>
              <a:rPr lang="en-US" sz="24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JetBrains"/>
              </a:rPr>
              <a:t>vírusok</a:t>
            </a:r>
            <a:r>
              <a:rPr 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JetBrains"/>
              </a:rPr>
              <a:t> </a:t>
            </a:r>
            <a:r>
              <a:rPr lang="en-US" sz="24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JetBrains"/>
              </a:rPr>
              <a:t>kihasználnának</a:t>
            </a:r>
            <a:r>
              <a:rPr 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JetBrains"/>
              </a:rPr>
              <a:t>.</a:t>
            </a:r>
            <a:endParaRPr lang="hu-HU" sz="2400" noProof="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JetBrains"/>
            </a:endParaRPr>
          </a:p>
        </p:txBody>
      </p:sp>
    </p:spTree>
    <p:extLst>
      <p:ext uri="{BB962C8B-B14F-4D97-AF65-F5344CB8AC3E}">
        <p14:creationId xmlns:p14="http://schemas.microsoft.com/office/powerpoint/2010/main" val="207768501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0BC31E-4939-7D1B-C551-21AEE578F6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18923" y="142592"/>
            <a:ext cx="8534400" cy="1507067"/>
          </a:xfrm>
        </p:spPr>
        <p:txBody>
          <a:bodyPr>
            <a:normAutofit/>
          </a:bodyPr>
          <a:lstStyle/>
          <a:p>
            <a:r>
              <a:rPr lang="en-US" sz="44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JetBrains"/>
              </a:rPr>
              <a:t>Tájékoztatás</a:t>
            </a:r>
            <a:r>
              <a:rPr lang="en-US" sz="4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JetBrains"/>
              </a:rPr>
              <a:t> </a:t>
            </a:r>
            <a:r>
              <a:rPr lang="en-US" sz="44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JetBrains"/>
              </a:rPr>
              <a:t>az</a:t>
            </a:r>
            <a:r>
              <a:rPr lang="en-US" sz="4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JetBrains"/>
              </a:rPr>
              <a:t> </a:t>
            </a:r>
            <a:r>
              <a:rPr lang="en-US" sz="44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JetBrains"/>
              </a:rPr>
              <a:t>intézményben</a:t>
            </a:r>
            <a:endParaRPr lang="en-US" sz="4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JetBrain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3B28D77-5004-8958-4E1C-317E6D075BD8}"/>
              </a:ext>
            </a:extLst>
          </p:cNvPr>
          <p:cNvSpPr txBox="1"/>
          <p:nvPr/>
        </p:nvSpPr>
        <p:spPr>
          <a:xfrm>
            <a:off x="1535173" y="1649660"/>
            <a:ext cx="390520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hu-HU" sz="360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JetBrains"/>
              </a:rPr>
              <a:t>Elhelyezési javaslat</a:t>
            </a:r>
            <a:endParaRPr lang="hu-HU" sz="3600" i="1" noProof="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JetBrain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CDDF8FF-6CEE-DBBE-65FD-ECFD7CB6691B}"/>
              </a:ext>
            </a:extLst>
          </p:cNvPr>
          <p:cNvSpPr txBox="1"/>
          <p:nvPr/>
        </p:nvSpPr>
        <p:spPr>
          <a:xfrm>
            <a:off x="1729068" y="2702020"/>
            <a:ext cx="3517415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JetBrains"/>
              </a:rPr>
              <a:t>Olyan </a:t>
            </a:r>
            <a:r>
              <a:rPr lang="en-US" sz="28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JetBrains"/>
              </a:rPr>
              <a:t>közös</a:t>
            </a:r>
            <a:r>
              <a:rPr lang="en-US" sz="2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JetBrains"/>
              </a:rPr>
              <a:t> </a:t>
            </a:r>
            <a:r>
              <a:rPr lang="en-US" sz="28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JetBrains"/>
              </a:rPr>
              <a:t>terekben</a:t>
            </a:r>
            <a:r>
              <a:rPr lang="en-US" sz="2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JetBrains"/>
              </a:rPr>
              <a:t>, </a:t>
            </a:r>
            <a:r>
              <a:rPr lang="en-US" sz="28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JetBrains"/>
              </a:rPr>
              <a:t>ahol</a:t>
            </a:r>
            <a:r>
              <a:rPr lang="en-US" sz="2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JetBrains"/>
              </a:rPr>
              <a:t> </a:t>
            </a:r>
            <a:r>
              <a:rPr lang="en-US" sz="28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JetBrains"/>
              </a:rPr>
              <a:t>az</a:t>
            </a:r>
            <a:r>
              <a:rPr lang="en-US" sz="2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JetBrains"/>
              </a:rPr>
              <a:t> </a:t>
            </a:r>
            <a:r>
              <a:rPr lang="en-US" sz="28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JetBrains"/>
              </a:rPr>
              <a:t>emberek</a:t>
            </a:r>
            <a:r>
              <a:rPr lang="en-US" sz="2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JetBrains"/>
              </a:rPr>
              <a:t> </a:t>
            </a:r>
            <a:r>
              <a:rPr lang="en-US" sz="28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JetBrains"/>
              </a:rPr>
              <a:t>gyakran</a:t>
            </a:r>
            <a:r>
              <a:rPr lang="en-US" sz="2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JetBrains"/>
              </a:rPr>
              <a:t> </a:t>
            </a:r>
            <a:r>
              <a:rPr lang="en-US" sz="28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JetBrains"/>
              </a:rPr>
              <a:t>megfordulnak</a:t>
            </a:r>
            <a:r>
              <a:rPr lang="en-US" sz="2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JetBrains"/>
              </a:rPr>
              <a:t> </a:t>
            </a:r>
            <a:r>
              <a:rPr lang="en-US" sz="28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JetBrains"/>
              </a:rPr>
              <a:t>és</a:t>
            </a:r>
            <a:r>
              <a:rPr lang="en-US" sz="2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JetBrains"/>
              </a:rPr>
              <a:t> van </a:t>
            </a:r>
            <a:r>
              <a:rPr lang="en-US" sz="28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JetBrains"/>
              </a:rPr>
              <a:t>idejük</a:t>
            </a:r>
            <a:r>
              <a:rPr lang="en-US" sz="2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JetBrains"/>
              </a:rPr>
              <a:t> </a:t>
            </a:r>
            <a:r>
              <a:rPr lang="en-US" sz="28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JetBrains"/>
              </a:rPr>
              <a:t>olvasni</a:t>
            </a:r>
            <a:r>
              <a:rPr lang="en-US" sz="2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JetBrains"/>
              </a:rPr>
              <a:t>.</a:t>
            </a:r>
            <a:endParaRPr lang="hu-HU" sz="2800" noProof="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JetBrain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F6F5580-F389-9CD4-CC7F-EB5C4BFEAD48}"/>
              </a:ext>
            </a:extLst>
          </p:cNvPr>
          <p:cNvSpPr txBox="1"/>
          <p:nvPr/>
        </p:nvSpPr>
        <p:spPr>
          <a:xfrm>
            <a:off x="7173290" y="1649659"/>
            <a:ext cx="390520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hu-HU" sz="3600" i="1" noProof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JetBrains"/>
              </a:rPr>
              <a:t>Ideális helyszínek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F37AC39-111F-B228-887D-EE51B185501A}"/>
              </a:ext>
            </a:extLst>
          </p:cNvPr>
          <p:cNvSpPr txBox="1"/>
          <p:nvPr/>
        </p:nvSpPr>
        <p:spPr>
          <a:xfrm>
            <a:off x="6539620" y="2464230"/>
            <a:ext cx="5172546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JetBrains"/>
              </a:rPr>
              <a:t>Konyha, </a:t>
            </a:r>
            <a:r>
              <a:rPr lang="en-US" sz="24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JetBrains"/>
              </a:rPr>
              <a:t>étkező</a:t>
            </a:r>
            <a:r>
              <a:rPr 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JetBrains"/>
              </a:rPr>
              <a:t>:</a:t>
            </a:r>
            <a:r>
              <a:rPr 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JetBrains"/>
              </a:rPr>
              <a:t> </a:t>
            </a:r>
            <a:r>
              <a:rPr lang="en-US" sz="24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JetBrains"/>
              </a:rPr>
              <a:t>Kávészünetben</a:t>
            </a:r>
            <a:r>
              <a:rPr 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JetBrains"/>
              </a:rPr>
              <a:t> </a:t>
            </a:r>
            <a:r>
              <a:rPr lang="en-US" sz="24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JetBrains"/>
              </a:rPr>
              <a:t>vagy</a:t>
            </a:r>
            <a:r>
              <a:rPr 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JetBrains"/>
              </a:rPr>
              <a:t> </a:t>
            </a:r>
            <a:r>
              <a:rPr lang="en-US" sz="24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JetBrains"/>
              </a:rPr>
              <a:t>ebéd</a:t>
            </a:r>
            <a:r>
              <a:rPr 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JetBrains"/>
              </a:rPr>
              <a:t> </a:t>
            </a:r>
            <a:r>
              <a:rPr lang="en-US" sz="24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JetBrains"/>
              </a:rPr>
              <a:t>közben</a:t>
            </a:r>
            <a:r>
              <a:rPr 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JetBrains"/>
              </a:rPr>
              <a:t>.</a:t>
            </a:r>
            <a:endParaRPr lang="hu-HU" sz="2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JetBrains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JetBrains"/>
              </a:rPr>
              <a:t>Nyomtatók</a:t>
            </a:r>
            <a:r>
              <a:rPr 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JetBrains"/>
              </a:rPr>
              <a:t>, </a:t>
            </a:r>
            <a:r>
              <a:rPr lang="en-US" sz="24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JetBrains"/>
              </a:rPr>
              <a:t>fénymásolók</a:t>
            </a:r>
            <a:r>
              <a:rPr 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JetBrains"/>
              </a:rPr>
              <a:t> </a:t>
            </a:r>
            <a:r>
              <a:rPr lang="en-US" sz="24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JetBrains"/>
              </a:rPr>
              <a:t>mellett</a:t>
            </a:r>
            <a:r>
              <a:rPr 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JetBrains"/>
              </a:rPr>
              <a:t>:</a:t>
            </a:r>
            <a:r>
              <a:rPr 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JetBrains"/>
              </a:rPr>
              <a:t> </a:t>
            </a:r>
            <a:r>
              <a:rPr lang="en-US" sz="24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JetBrains"/>
              </a:rPr>
              <a:t>Várakozás</a:t>
            </a:r>
            <a:r>
              <a:rPr 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JetBrains"/>
              </a:rPr>
              <a:t> </a:t>
            </a:r>
            <a:r>
              <a:rPr lang="en-US" sz="24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JetBrains"/>
              </a:rPr>
              <a:t>közben</a:t>
            </a:r>
            <a:r>
              <a:rPr 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JetBrains"/>
              </a:rPr>
              <a:t>.</a:t>
            </a:r>
            <a:endParaRPr lang="hu-HU" sz="2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JetBrains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JetBrains"/>
              </a:rPr>
              <a:t>Recepció</a:t>
            </a:r>
            <a:r>
              <a:rPr 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JetBrains"/>
              </a:rPr>
              <a:t>, porta </a:t>
            </a:r>
            <a:r>
              <a:rPr lang="en-US" sz="24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JetBrains"/>
              </a:rPr>
              <a:t>mellett</a:t>
            </a:r>
            <a:r>
              <a:rPr 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JetBrains"/>
              </a:rPr>
              <a:t>:</a:t>
            </a:r>
            <a:r>
              <a:rPr 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JetBrains"/>
              </a:rPr>
              <a:t> </a:t>
            </a:r>
            <a:r>
              <a:rPr lang="en-US" sz="24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JetBrains"/>
              </a:rPr>
              <a:t>Érkezéskor</a:t>
            </a:r>
            <a:r>
              <a:rPr 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JetBrains"/>
              </a:rPr>
              <a:t> </a:t>
            </a:r>
            <a:r>
              <a:rPr lang="en-US" sz="24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JetBrains"/>
              </a:rPr>
              <a:t>és</a:t>
            </a:r>
            <a:r>
              <a:rPr 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JetBrains"/>
              </a:rPr>
              <a:t> </a:t>
            </a:r>
            <a:r>
              <a:rPr lang="en-US" sz="24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JetBrains"/>
              </a:rPr>
              <a:t>távozáskor</a:t>
            </a:r>
            <a:r>
              <a:rPr 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JetBrains"/>
              </a:rPr>
              <a:t> is </a:t>
            </a:r>
            <a:r>
              <a:rPr lang="en-US" sz="24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JetBrains"/>
              </a:rPr>
              <a:t>látható</a:t>
            </a:r>
            <a:r>
              <a:rPr 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JetBrains"/>
              </a:rPr>
              <a:t>.</a:t>
            </a:r>
            <a:endParaRPr lang="hu-HU" sz="2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JetBrains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JetBrains"/>
              </a:rPr>
              <a:t>Központi</a:t>
            </a:r>
            <a:r>
              <a:rPr 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JetBrains"/>
              </a:rPr>
              <a:t> </a:t>
            </a:r>
            <a:r>
              <a:rPr lang="en-US" sz="24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JetBrains"/>
              </a:rPr>
              <a:t>faliújság</a:t>
            </a:r>
            <a:r>
              <a:rPr 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JetBrains"/>
              </a:rPr>
              <a:t>.</a:t>
            </a:r>
            <a:endParaRPr lang="hu-HU" sz="2400" b="1" noProof="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JetBrains"/>
            </a:endParaRPr>
          </a:p>
        </p:txBody>
      </p:sp>
    </p:spTree>
    <p:extLst>
      <p:ext uri="{BB962C8B-B14F-4D97-AF65-F5344CB8AC3E}">
        <p14:creationId xmlns:p14="http://schemas.microsoft.com/office/powerpoint/2010/main" val="2530437765"/>
      </p:ext>
    </p:extLst>
  </p:cSld>
  <p:clrMapOvr>
    <a:masterClrMapping/>
  </p:clrMapOvr>
</p:sld>
</file>

<file path=ppt/theme/theme1.xml><?xml version="1.0" encoding="utf-8"?>
<a:theme xmlns:a="http://schemas.openxmlformats.org/drawingml/2006/main" name="Szelet">
  <a:themeElements>
    <a:clrScheme name="Slice">
      <a:dk1>
        <a:sysClr val="windowText" lastClr="000000"/>
      </a:dk1>
      <a:lt1>
        <a:sysClr val="window" lastClr="FFFFFF"/>
      </a:lt1>
      <a:dk2>
        <a:srgbClr val="146194"/>
      </a:dk2>
      <a:lt2>
        <a:srgbClr val="76DBF4"/>
      </a:lt2>
      <a:accent1>
        <a:srgbClr val="052F61"/>
      </a:accent1>
      <a:accent2>
        <a:srgbClr val="A50E82"/>
      </a:accent2>
      <a:accent3>
        <a:srgbClr val="14967C"/>
      </a:accent3>
      <a:accent4>
        <a:srgbClr val="6A9E1F"/>
      </a:accent4>
      <a:accent5>
        <a:srgbClr val="E87D37"/>
      </a:accent5>
      <a:accent6>
        <a:srgbClr val="C62324"/>
      </a:accent6>
      <a:hlink>
        <a:srgbClr val="0D2E46"/>
      </a:hlink>
      <a:folHlink>
        <a:srgbClr val="356A95"/>
      </a:folHlink>
    </a:clrScheme>
    <a:fontScheme name="Slice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Slice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hueMod val="94000"/>
                <a:satMod val="140000"/>
                <a:lumMod val="110000"/>
              </a:schemeClr>
            </a:gs>
            <a:gs pos="100000">
              <a:schemeClr val="phClr">
                <a:tint val="84000"/>
                <a:satMod val="16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hueMod val="94000"/>
                <a:satMod val="130000"/>
                <a:lumMod val="128000"/>
              </a:schemeClr>
            </a:gs>
            <a:gs pos="100000">
              <a:schemeClr val="phClr">
                <a:shade val="94000"/>
                <a:lumMod val="88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tint val="76000"/>
              <a:alpha val="60000"/>
              <a:hueMod val="94000"/>
            </a:schemeClr>
          </a:solidFill>
          <a:prstDash val="solid"/>
        </a:ln>
        <a:ln w="15875" cap="rnd" cmpd="sng" algn="ctr">
          <a:solidFill>
            <a:schemeClr val="phClr">
              <a:hueMod val="94000"/>
            </a:schemeClr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46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1000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lin ang="6120000" scaled="1"/>
        </a:gradFill>
        <a:gradFill rotWithShape="1">
          <a:gsLst>
            <a:gs pos="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path path="circle">
            <a:fillToRect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ice" id="{0507925B-6AC9-4358-8E18-C330545D08F8}" vid="{13FEC7C6-62A9-40C4-99D2-581AACACAA2F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kumentum" ma:contentTypeID="0x010100D21950142232504A910E31416795DFD6" ma:contentTypeVersion="4" ma:contentTypeDescription="Új dokumentum létrehozása." ma:contentTypeScope="" ma:versionID="7dca970cf65368f0ff10b2a6604d1565">
  <xsd:schema xmlns:xsd="http://www.w3.org/2001/XMLSchema" xmlns:xs="http://www.w3.org/2001/XMLSchema" xmlns:p="http://schemas.microsoft.com/office/2006/metadata/properties" xmlns:ns2="373b8e90-8d60-43db-87a1-b03f59be870e" targetNamespace="http://schemas.microsoft.com/office/2006/metadata/properties" ma:root="true" ma:fieldsID="2e71084cbb3b0228124f7874d1d50422" ns2:_="">
    <xsd:import namespace="373b8e90-8d60-43db-87a1-b03f59be870e"/>
    <xsd:element name="properties">
      <xsd:complexType>
        <xsd:sequence>
          <xsd:element name="documentManagement">
            <xsd:complexType>
              <xsd:all>
                <xsd:element ref="ns2:ReferenceId" minOccurs="0"/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73b8e90-8d60-43db-87a1-b03f59be870e" elementFormDefault="qualified">
    <xsd:import namespace="http://schemas.microsoft.com/office/2006/documentManagement/types"/>
    <xsd:import namespace="http://schemas.microsoft.com/office/infopath/2007/PartnerControls"/>
    <xsd:element name="ReferenceId" ma:index="8" nillable="true" ma:displayName="ReferenceId" ma:indexed="true" ma:internalName="ReferenceId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artalomtípus"/>
        <xsd:element ref="dc:title" minOccurs="0" maxOccurs="1" ma:index="4" ma:displayName="Cím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ReferenceId xmlns="373b8e90-8d60-43db-87a1-b03f59be870e" xsi:nil="true"/>
  </documentManagement>
</p:properties>
</file>

<file path=customXml/itemProps1.xml><?xml version="1.0" encoding="utf-8"?>
<ds:datastoreItem xmlns:ds="http://schemas.openxmlformats.org/officeDocument/2006/customXml" ds:itemID="{B3F773F3-D8BE-4D6A-B5C4-3C80840E8F8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373b8e90-8d60-43db-87a1-b03f59be870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21BCB64E-5B3C-4152-A0CA-22DA31550076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BB3B9E2C-7CB8-447E-8032-92CACAA87EBB}">
  <ds:schemaRefs>
    <ds:schemaRef ds:uri="http://schemas.microsoft.com/office/2006/metadata/properties"/>
    <ds:schemaRef ds:uri="http://schemas.microsoft.com/office/infopath/2007/PartnerControls"/>
    <ds:schemaRef ds:uri="373b8e90-8d60-43db-87a1-b03f59be870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Slice</Template>
  <TotalTime>46</TotalTime>
  <Words>237</Words>
  <Application>Microsoft Office PowerPoint</Application>
  <PresentationFormat>Widescreen</PresentationFormat>
  <Paragraphs>31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Arial</vt:lpstr>
      <vt:lpstr>Century Gothic</vt:lpstr>
      <vt:lpstr>JetBrains</vt:lpstr>
      <vt:lpstr>Wingdings 3</vt:lpstr>
      <vt:lpstr>Szelet</vt:lpstr>
      <vt:lpstr>Zsarolóvírus (ransomware)</vt:lpstr>
      <vt:lpstr>működése</vt:lpstr>
      <vt:lpstr>Valós élethelyzetek</vt:lpstr>
      <vt:lpstr>Valós élethelyzetek</vt:lpstr>
      <vt:lpstr>Hogyan védekezz? 3 Aranyszabály</vt:lpstr>
      <vt:lpstr>Tájékoztatás az intézményben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Zsarolóvírus (ransomware)</dc:title>
  <dc:creator>Halász Noel</dc:creator>
  <cp:lastModifiedBy>Halász Noel</cp:lastModifiedBy>
  <cp:revision>16</cp:revision>
  <dcterms:created xsi:type="dcterms:W3CDTF">2025-10-06T09:12:22Z</dcterms:created>
  <dcterms:modified xsi:type="dcterms:W3CDTF">2025-10-13T17:06:43Z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0x010100D21950142232504A910E31416795DFD6</vt:lpwstr>
  </property>
</Properties>
</file>