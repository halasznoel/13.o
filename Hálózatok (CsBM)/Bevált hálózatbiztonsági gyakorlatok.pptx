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3"/>
  </p:notesMasterIdLst>
  <p:handoutMasterIdLst>
    <p:handoutMasterId r:id="rId14"/>
  </p:handoutMasterIdLst>
  <p:sldIdLst>
    <p:sldId id="257" r:id="rId5"/>
    <p:sldId id="268" r:id="rId6"/>
    <p:sldId id="269" r:id="rId7"/>
    <p:sldId id="271" r:id="rId8"/>
    <p:sldId id="272" r:id="rId9"/>
    <p:sldId id="273" r:id="rId10"/>
    <p:sldId id="274" r:id="rId11"/>
    <p:sldId id="275" r:id="rId12"/>
  </p:sldIdLst>
  <p:sldSz cx="12188825" cy="6858000"/>
  <p:notesSz cx="6858000" cy="9144000"/>
  <p:defaultTextStyle>
    <a:defPPr rtl="0">
      <a:defRPr lang="hu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5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4404"/>
    <a:srgbClr val="5F6F0F"/>
    <a:srgbClr val="718412"/>
    <a:srgbClr val="65741A"/>
    <a:srgbClr val="70811D"/>
    <a:srgbClr val="7B8D1F"/>
    <a:srgbClr val="839721"/>
    <a:srgbClr val="95AB25"/>
    <a:srgbClr val="BC5500"/>
    <a:srgbClr val="C4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4" autoAdjust="0"/>
    <p:restoredTop sz="94660"/>
  </p:normalViewPr>
  <p:slideViewPr>
    <p:cSldViewPr>
      <p:cViewPr varScale="1">
        <p:scale>
          <a:sx n="89" d="100"/>
          <a:sy n="89" d="100"/>
        </p:scale>
        <p:origin x="618" y="78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/>
          </a:p>
        </p:txBody>
      </p:sp>
      <p:sp>
        <p:nvSpPr>
          <p:cNvPr id="3" name="Dátum hely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r>
              <a:rPr lang="en-US"/>
              <a:t>2016. 08. 01.</a:t>
            </a:r>
            <a:endParaRPr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79429053-DC2A-4342-ADD4-2FD729D91E2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2045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r>
              <a:rPr lang="en-US"/>
              <a:t>2016. 08. 01.</a:t>
            </a:r>
            <a:endParaRPr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t>Mintaszöveg szerkesztése</a:t>
            </a:r>
          </a:p>
          <a:p>
            <a:pPr lvl="1" rtl="0"/>
            <a:r>
              <a:t>Második szint</a:t>
            </a:r>
          </a:p>
          <a:p>
            <a:pPr lvl="2" rtl="0"/>
            <a:r>
              <a:t>Harmadik szint</a:t>
            </a:r>
          </a:p>
          <a:p>
            <a:pPr lvl="3" rtl="0"/>
            <a:r>
              <a:t>Negyedik szint</a:t>
            </a:r>
          </a:p>
          <a:p>
            <a:pPr lvl="4" rtl="0"/>
            <a:r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EBA5BD7-F043-4D1B-AA17-CD412FC534D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670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átlók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4" name="Egyenes összekötő 13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Egyenes összekötő 16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Egyenes összekötő 18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" name="alsó sorok"/>
          <p:cNvGrpSpPr/>
          <p:nvPr/>
        </p:nvGrpSpPr>
        <p:grpSpPr>
          <a:xfrm>
            <a:off x="-8916" y="6057149"/>
            <a:ext cx="5498726" cy="820207"/>
            <a:chOff x="-6689" y="4553748"/>
            <a:chExt cx="4125119" cy="615155"/>
          </a:xfrm>
        </p:grpSpPr>
        <p:sp>
          <p:nvSpPr>
            <p:cNvPr id="9" name="Szabadkézi sokszög 8"/>
            <p:cNvSpPr/>
            <p:nvPr/>
          </p:nvSpPr>
          <p:spPr>
            <a:xfrm rot="16200000">
              <a:off x="1754302" y="2802395"/>
              <a:ext cx="612775" cy="411548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4115481 h 4115481"/>
                <a:gd name="connsiteX1" fmla="*/ 612775 w 612775"/>
                <a:gd name="connsiteY1" fmla="*/ 3180443 h 4115481"/>
                <a:gd name="connsiteX2" fmla="*/ 612775 w 612775"/>
                <a:gd name="connsiteY2" fmla="*/ 0 h 411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4115481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/>
            </a:p>
          </p:txBody>
        </p:sp>
        <p:sp>
          <p:nvSpPr>
            <p:cNvPr id="10" name="Szabadkézi sokszög 9"/>
            <p:cNvSpPr/>
            <p:nvPr/>
          </p:nvSpPr>
          <p:spPr>
            <a:xfrm rot="16200000">
              <a:off x="1604659" y="3152814"/>
              <a:ext cx="410751" cy="3621427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  <a:gd name="connsiteX0" fmla="*/ 0 w 410751"/>
                <a:gd name="connsiteY0" fmla="*/ 3614170 h 3614170"/>
                <a:gd name="connsiteX1" fmla="*/ 410751 w 410751"/>
                <a:gd name="connsiteY1" fmla="*/ 2990994 h 3614170"/>
                <a:gd name="connsiteX2" fmla="*/ 405947 w 410751"/>
                <a:gd name="connsiteY2" fmla="*/ 0 h 3614170"/>
                <a:gd name="connsiteX0" fmla="*/ 0 w 410751"/>
                <a:gd name="connsiteY0" fmla="*/ 3621427 h 3621427"/>
                <a:gd name="connsiteX1" fmla="*/ 410751 w 410751"/>
                <a:gd name="connsiteY1" fmla="*/ 2998251 h 3621427"/>
                <a:gd name="connsiteX2" fmla="*/ 405947 w 410751"/>
                <a:gd name="connsiteY2" fmla="*/ 0 h 362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621427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/>
            </a:p>
          </p:txBody>
        </p:sp>
        <p:sp>
          <p:nvSpPr>
            <p:cNvPr id="11" name="Szabadkézi sokszög 10"/>
            <p:cNvSpPr/>
            <p:nvPr/>
          </p:nvSpPr>
          <p:spPr>
            <a:xfrm rot="16200000">
              <a:off x="1462308" y="3453376"/>
              <a:ext cx="241768" cy="31797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  <a:gd name="connsiteX0" fmla="*/ 0 w 241768"/>
                <a:gd name="connsiteY0" fmla="*/ 3179761 h 3179761"/>
                <a:gd name="connsiteX1" fmla="*/ 238919 w 241768"/>
                <a:gd name="connsiteY1" fmla="*/ 2819370 h 3179761"/>
                <a:gd name="connsiteX2" fmla="*/ 241754 w 241768"/>
                <a:gd name="connsiteY2" fmla="*/ 0 h 317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1768" h="3179761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/>
            </a:p>
          </p:txBody>
        </p:sp>
      </p:grpSp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2000251"/>
          </a:xfrm>
        </p:spPr>
        <p:txBody>
          <a:bodyPr rtlCol="0">
            <a:normAutofit/>
          </a:bodyPr>
          <a:lstStyle>
            <a:lvl1pPr>
              <a:defRPr sz="5400"/>
            </a:lvl1pPr>
          </a:lstStyle>
          <a:p>
            <a:pPr rtl="0"/>
            <a:r>
              <a:rPr lang="hu-HU"/>
              <a:t>Mintacím szerkesztése</a:t>
            </a:r>
            <a:endParaRPr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625176" y="2616200"/>
            <a:ext cx="8735325" cy="17526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hu-HU"/>
              <a:t>Kattintson ide az alcím mintájának szerkesztéséhez</a:t>
            </a:r>
            <a:endParaRPr/>
          </a:p>
        </p:txBody>
      </p:sp>
      <p:sp>
        <p:nvSpPr>
          <p:cNvPr id="22" name="Dátum helye 2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2016. 08. 01.</a:t>
            </a:r>
            <a:endParaRPr/>
          </a:p>
        </p:txBody>
      </p:sp>
      <p:sp>
        <p:nvSpPr>
          <p:cNvPr id="23" name="Élőláb helye 2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/>
          </a:p>
        </p:txBody>
      </p:sp>
      <p:sp>
        <p:nvSpPr>
          <p:cNvPr id="24" name="Dia számának helye 2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748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/>
              <a:t>Mintacím szerkesztése</a:t>
            </a:r>
            <a:endParaRPr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 rtl="0"/>
            <a:r>
              <a:rPr lang="hu-HU"/>
              <a:t>Mintaszöveg szerkesztése</a:t>
            </a:r>
          </a:p>
          <a:p>
            <a:pPr lvl="1" rtl="0"/>
            <a:r>
              <a:rPr lang="hu-HU"/>
              <a:t>Második szint</a:t>
            </a:r>
          </a:p>
          <a:p>
            <a:pPr lvl="2" rtl="0"/>
            <a:r>
              <a:rPr lang="hu-HU"/>
              <a:t>Harmadik szint</a:t>
            </a:r>
          </a:p>
          <a:p>
            <a:pPr lvl="3" rtl="0"/>
            <a:r>
              <a:rPr lang="hu-HU"/>
              <a:t>Negyedik szint</a:t>
            </a:r>
          </a:p>
          <a:p>
            <a:pPr lvl="4" rtl="0"/>
            <a:r>
              <a:rPr lang="hu-HU"/>
              <a:t>Ötödik szint</a:t>
            </a:r>
            <a:endParaRPr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2016. 08. 01.</a:t>
            </a:r>
            <a:endParaRPr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676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átlók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2" name="Egyenes összekötő 11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Egyenes összekötő 12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Egyenes összekötő 13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625177" y="2209801"/>
            <a:ext cx="8938472" cy="2764335"/>
          </a:xfrm>
        </p:spPr>
        <p:txBody>
          <a:bodyPr rtlCol="0" anchor="b">
            <a:normAutofit/>
          </a:bodyPr>
          <a:lstStyle>
            <a:lvl1pPr algn="l">
              <a:defRPr sz="5400" b="0" cap="none" baseline="0"/>
            </a:lvl1pPr>
          </a:lstStyle>
          <a:p>
            <a:pPr rtl="0"/>
            <a:r>
              <a:rPr lang="hu-HU"/>
              <a:t>Mintacím szerkesztése</a:t>
            </a:r>
            <a:endParaRPr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1625176" y="4951266"/>
            <a:ext cx="7069519" cy="1220933"/>
          </a:xfrm>
        </p:spPr>
        <p:txBody>
          <a:bodyPr rtlCol="0" anchor="t">
            <a:normAutofit/>
          </a:bodyPr>
          <a:lstStyle>
            <a:lvl1pPr marL="0" indent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2016. 08. 01.</a:t>
            </a:r>
            <a:endParaRPr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6330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Két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/>
              <a:t>Mintacím szerkesztése</a:t>
            </a:r>
            <a:endParaRPr/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1218883" y="1706880"/>
            <a:ext cx="5078677" cy="4465320"/>
          </a:xfrm>
        </p:spPr>
        <p:txBody>
          <a:bodyPr rtlCol="0"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 rtl="0"/>
            <a:r>
              <a:rPr lang="hu-HU"/>
              <a:t>Mintaszöveg szerkesztése</a:t>
            </a:r>
          </a:p>
          <a:p>
            <a:pPr lvl="1" rtl="0"/>
            <a:r>
              <a:rPr lang="hu-HU"/>
              <a:t>Második szint</a:t>
            </a:r>
          </a:p>
          <a:p>
            <a:pPr lvl="2" rtl="0"/>
            <a:r>
              <a:rPr lang="hu-HU"/>
              <a:t>Harmadik szint</a:t>
            </a:r>
          </a:p>
          <a:p>
            <a:pPr lvl="3" rtl="0"/>
            <a:r>
              <a:rPr lang="hu-HU"/>
              <a:t>Negyedik szint</a:t>
            </a:r>
          </a:p>
          <a:p>
            <a:pPr lvl="4" rtl="0"/>
            <a:r>
              <a:rPr lang="hu-HU"/>
              <a:t>Ötödik szint</a:t>
            </a:r>
            <a:endParaRPr/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500707" y="1706880"/>
            <a:ext cx="5078677" cy="4465320"/>
          </a:xfrm>
        </p:spPr>
        <p:txBody>
          <a:bodyPr rtlCol="0"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hu-HU"/>
              <a:t>Mintaszöveg szerkesztése</a:t>
            </a:r>
          </a:p>
          <a:p>
            <a:pPr lvl="1" rtl="0"/>
            <a:r>
              <a:rPr lang="hu-HU"/>
              <a:t>Második szint</a:t>
            </a:r>
          </a:p>
          <a:p>
            <a:pPr lvl="2" rtl="0"/>
            <a:r>
              <a:rPr lang="hu-HU"/>
              <a:t>Harmadik szint</a:t>
            </a:r>
          </a:p>
          <a:p>
            <a:pPr lvl="3" rtl="0"/>
            <a:r>
              <a:rPr lang="hu-HU"/>
              <a:t>Negyedik szint</a:t>
            </a:r>
          </a:p>
          <a:p>
            <a:pPr lvl="4" rtl="0"/>
            <a:r>
              <a:rPr lang="hu-HU"/>
              <a:t>Ötödik szint</a:t>
            </a:r>
            <a:endParaRPr/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2016. 08. 01.</a:t>
            </a:r>
            <a:endParaRPr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7647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hu-HU"/>
              <a:t>Mintacím szerkesztése</a:t>
            </a:r>
            <a:endParaRPr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1218883" y="1701800"/>
            <a:ext cx="5082740" cy="914400"/>
          </a:xfrm>
        </p:spPr>
        <p:txBody>
          <a:bodyPr rtlCol="0"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5078677" cy="3454400"/>
          </a:xfrm>
        </p:spPr>
        <p:txBody>
          <a:bodyPr rtlCol="0"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 rtl="0"/>
            <a:r>
              <a:rPr lang="hu-HU"/>
              <a:t>Mintaszöveg szerkesztése</a:t>
            </a:r>
          </a:p>
          <a:p>
            <a:pPr lvl="1" rtl="0"/>
            <a:r>
              <a:rPr lang="hu-HU"/>
              <a:t>Második szint</a:t>
            </a:r>
          </a:p>
          <a:p>
            <a:pPr lvl="2" rtl="0"/>
            <a:r>
              <a:rPr lang="hu-HU"/>
              <a:t>Harmadik szint</a:t>
            </a:r>
          </a:p>
          <a:p>
            <a:pPr lvl="3" rtl="0"/>
            <a:r>
              <a:rPr lang="hu-HU"/>
              <a:t>Negyedik szint</a:t>
            </a:r>
          </a:p>
          <a:p>
            <a:pPr lvl="4" rtl="0"/>
            <a:r>
              <a:rPr lang="hu-HU"/>
              <a:t>Ötödik szint</a:t>
            </a:r>
            <a:endParaRPr/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496644" y="1701800"/>
            <a:ext cx="5082740" cy="914400"/>
          </a:xfrm>
        </p:spPr>
        <p:txBody>
          <a:bodyPr rtlCol="0"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500707" y="2717800"/>
            <a:ext cx="5078677" cy="3454400"/>
          </a:xfrm>
        </p:spPr>
        <p:txBody>
          <a:bodyPr rtlCol="0"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 rtl="0"/>
            <a:r>
              <a:rPr lang="hu-HU"/>
              <a:t>Mintaszöveg szerkesztése</a:t>
            </a:r>
          </a:p>
          <a:p>
            <a:pPr lvl="1" rtl="0"/>
            <a:r>
              <a:rPr lang="hu-HU"/>
              <a:t>Második szint</a:t>
            </a:r>
          </a:p>
          <a:p>
            <a:pPr lvl="2" rtl="0"/>
            <a:r>
              <a:rPr lang="hu-HU"/>
              <a:t>Harmadik szint</a:t>
            </a:r>
          </a:p>
          <a:p>
            <a:pPr lvl="3" rtl="0"/>
            <a:r>
              <a:rPr lang="hu-HU"/>
              <a:t>Negyedik szint</a:t>
            </a:r>
          </a:p>
          <a:p>
            <a:pPr lvl="4" rtl="0"/>
            <a:r>
              <a:rPr lang="hu-HU"/>
              <a:t>Ötödik szint</a:t>
            </a:r>
            <a:endParaRPr/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2016. 08. 01.</a:t>
            </a:r>
            <a:endParaRPr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381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/>
              <a:t>Mintacím szerkesztése</a:t>
            </a:r>
            <a:endParaRPr/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2016. 08. 01.</a:t>
            </a:r>
            <a:endParaRPr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522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2016. 08. 01.</a:t>
            </a:r>
            <a:endParaRPr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2478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rtlCol="0"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pPr rtl="0"/>
            <a:r>
              <a:rPr lang="hu-HU"/>
              <a:t>Mintacím szerkesztése</a:t>
            </a:r>
            <a:endParaRPr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 rtlCol="0"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484971" y="584200"/>
            <a:ext cx="6094413" cy="5588000"/>
          </a:xfrm>
        </p:spPr>
        <p:txBody>
          <a:bodyPr rtlCol="0"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 rtl="0"/>
            <a:r>
              <a:rPr lang="hu-HU"/>
              <a:t>Mintaszöveg szerkesztése</a:t>
            </a:r>
          </a:p>
          <a:p>
            <a:pPr lvl="1" rtl="0"/>
            <a:r>
              <a:rPr lang="hu-HU"/>
              <a:t>Második szint</a:t>
            </a:r>
          </a:p>
          <a:p>
            <a:pPr lvl="2" rtl="0"/>
            <a:r>
              <a:rPr lang="hu-HU"/>
              <a:t>Harmadik szint</a:t>
            </a:r>
          </a:p>
          <a:p>
            <a:pPr lvl="3" rtl="0"/>
            <a:r>
              <a:rPr lang="hu-HU"/>
              <a:t>Negyedik szint</a:t>
            </a:r>
          </a:p>
          <a:p>
            <a:pPr lvl="4" rtl="0"/>
            <a:r>
              <a:rPr lang="hu-HU"/>
              <a:t>Ötödik szint</a:t>
            </a:r>
            <a:endParaRPr/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2016. 08. 01.</a:t>
            </a:r>
            <a:endParaRPr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81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rtlCol="0"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pPr rtl="0"/>
            <a:r>
              <a:rPr lang="hu-HU"/>
              <a:t>Mintacím szerkesztése</a:t>
            </a:r>
            <a:endParaRPr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 rtlCol="0"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 rtl="0"/>
            <a:r>
              <a:rPr lang="hu-HU"/>
              <a:t>Mintaszöveg szerkesztése</a:t>
            </a:r>
          </a:p>
        </p:txBody>
      </p:sp>
      <p:sp>
        <p:nvSpPr>
          <p:cNvPr id="3" name="Kép helyőrzője 2" descr="Üres helyőrző kép hozzáadásához. Kattintson a helyőrzőre, és jelölje ki a hozzáadni kívánt képet."/>
          <p:cNvSpPr>
            <a:spLocks noGrp="1"/>
          </p:cNvSpPr>
          <p:nvPr>
            <p:ph type="pic" idx="1"/>
          </p:nvPr>
        </p:nvSpPr>
        <p:spPr>
          <a:xfrm>
            <a:off x="5484971" y="584200"/>
            <a:ext cx="6094413" cy="5588000"/>
          </a:xfrm>
          <a:ln w="12700">
            <a:solidFill>
              <a:schemeClr val="bg1">
                <a:lumMod val="75000"/>
                <a:lumOff val="25000"/>
              </a:schemeClr>
            </a:solidFill>
            <a:miter lim="800000"/>
          </a:ln>
        </p:spPr>
        <p:txBody>
          <a:bodyPr rtlCol="0">
            <a:normAutofit/>
          </a:bodyPr>
          <a:lstStyle>
            <a:lvl1pPr marL="0" indent="0">
              <a:buNone/>
              <a:defRPr sz="28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pPr rtl="0"/>
            <a:r>
              <a:rPr lang="hu-HU"/>
              <a:t>Kép beszúrásához kattintson az ikonra</a:t>
            </a:r>
            <a:endParaRPr/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2016. 08. 01.</a:t>
            </a:r>
            <a:endParaRPr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343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/>
              <a:t>Mintacím szerkesztése</a:t>
            </a:r>
            <a:endParaRPr/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 rtl="0"/>
            <a:r>
              <a:rPr lang="hu-HU"/>
              <a:t>Mintaszöveg szerkesztése</a:t>
            </a:r>
          </a:p>
          <a:p>
            <a:pPr lvl="1" rtl="0"/>
            <a:r>
              <a:rPr lang="hu-HU"/>
              <a:t>Második szint</a:t>
            </a:r>
          </a:p>
          <a:p>
            <a:pPr lvl="2" rtl="0"/>
            <a:r>
              <a:rPr lang="hu-HU"/>
              <a:t>Harmadik szint</a:t>
            </a:r>
          </a:p>
          <a:p>
            <a:pPr lvl="3" rtl="0"/>
            <a:r>
              <a:rPr lang="hu-HU"/>
              <a:t>Negyedik szint</a:t>
            </a:r>
          </a:p>
          <a:p>
            <a:pPr lvl="4" rtl="0"/>
            <a:r>
              <a:rPr lang="hu-HU"/>
              <a:t>Ötödik szint</a:t>
            </a:r>
            <a:endParaRPr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2016. 08. 01.</a:t>
            </a:r>
            <a:endParaRPr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9667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836898" y="584200"/>
            <a:ext cx="2742486" cy="5588000"/>
          </a:xfrm>
        </p:spPr>
        <p:txBody>
          <a:bodyPr vert="eaVert" rtlCol="0"/>
          <a:lstStyle/>
          <a:p>
            <a:pPr rtl="0"/>
            <a:r>
              <a:rPr lang="hu-HU"/>
              <a:t>Mintacím szerkesztése</a:t>
            </a:r>
            <a:endParaRPr/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1218882" y="584200"/>
            <a:ext cx="7414869" cy="5588000"/>
          </a:xfrm>
        </p:spPr>
        <p:txBody>
          <a:bodyPr vert="eaVert"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 rtl="0"/>
            <a:r>
              <a:rPr lang="hu-HU"/>
              <a:t>Mintaszöveg szerkesztése</a:t>
            </a:r>
          </a:p>
          <a:p>
            <a:pPr lvl="1" rtl="0"/>
            <a:r>
              <a:rPr lang="hu-HU"/>
              <a:t>Második szint</a:t>
            </a:r>
          </a:p>
          <a:p>
            <a:pPr lvl="2" rtl="0"/>
            <a:r>
              <a:rPr lang="hu-HU"/>
              <a:t>Harmadik szint</a:t>
            </a:r>
          </a:p>
          <a:p>
            <a:pPr lvl="3" rtl="0"/>
            <a:r>
              <a:rPr lang="hu-HU"/>
              <a:t>Negyedik szint</a:t>
            </a:r>
          </a:p>
          <a:p>
            <a:pPr lvl="4" rtl="0"/>
            <a:r>
              <a:rPr lang="hu-HU"/>
              <a:t>Ötödik szint</a:t>
            </a:r>
            <a:endParaRPr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/>
              <a:t>2016. 08. 01.</a:t>
            </a:r>
            <a:endParaRPr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88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100000"/>
                <a:shade val="0"/>
                <a:satMod val="100000"/>
              </a:schemeClr>
            </a:gs>
            <a:gs pos="85000">
              <a:schemeClr val="bg2">
                <a:tint val="100000"/>
                <a:shade val="30000"/>
                <a:satMod val="100000"/>
              </a:schemeClr>
            </a:gs>
            <a:gs pos="100000">
              <a:schemeClr val="bg2">
                <a:shade val="60000"/>
                <a:satMod val="10000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bal oldali sorok"/>
          <p:cNvGrpSpPr/>
          <p:nvPr/>
        </p:nvGrpSpPr>
        <p:grpSpPr>
          <a:xfrm>
            <a:off x="-15870" y="-3174"/>
            <a:ext cx="819993" cy="5229225"/>
            <a:chOff x="-11906" y="-2381"/>
            <a:chExt cx="615155" cy="3921919"/>
          </a:xfrm>
        </p:grpSpPr>
        <p:sp>
          <p:nvSpPr>
            <p:cNvPr id="10" name="Szabadkézi sokszög 9"/>
            <p:cNvSpPr/>
            <p:nvPr/>
          </p:nvSpPr>
          <p:spPr>
            <a:xfrm>
              <a:off x="-9526" y="0"/>
              <a:ext cx="612775" cy="3919538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3919538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/>
            </a:p>
          </p:txBody>
        </p:sp>
        <p:sp>
          <p:nvSpPr>
            <p:cNvPr id="11" name="Szabadkézi sokszög 10"/>
            <p:cNvSpPr/>
            <p:nvPr/>
          </p:nvSpPr>
          <p:spPr>
            <a:xfrm>
              <a:off x="-11906" y="0"/>
              <a:ext cx="410751" cy="3421856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421856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/>
            </a:p>
          </p:txBody>
        </p:sp>
        <p:sp>
          <p:nvSpPr>
            <p:cNvPr id="14" name="Szabadkézi sokszög 13"/>
            <p:cNvSpPr/>
            <p:nvPr/>
          </p:nvSpPr>
          <p:spPr>
            <a:xfrm>
              <a:off x="-7144" y="-2381"/>
              <a:ext cx="238919" cy="29765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919" h="2976561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/>
            </a:p>
          </p:txBody>
        </p:sp>
      </p:grpSp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1218883" y="274637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pPr rtl="0"/>
            <a:r>
              <a:rPr lang="hu"/>
              <a:t>Mintacím szerkesztése</a:t>
            </a:r>
            <a:endParaRPr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1218883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 rtl="0"/>
            <a:r>
              <a:rPr lang="hu"/>
              <a:t>Mintaszöveg szerkesztése</a:t>
            </a:r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/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1218882" y="6356352"/>
            <a:ext cx="2234618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en-US"/>
              <a:t>2016. 08. 01.</a:t>
            </a:r>
            <a:endParaRPr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3453501" y="6356352"/>
            <a:ext cx="5281824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10563649" y="6356352"/>
            <a:ext cx="101573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C014DD1E-5D91-48A3-AD6D-45FBA980D106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5275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21898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10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8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73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48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13322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43797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74272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726749" y="1340768"/>
            <a:ext cx="8735325" cy="2000251"/>
          </a:xfrm>
        </p:spPr>
        <p:txBody>
          <a:bodyPr rtlCol="0"/>
          <a:lstStyle/>
          <a:p>
            <a:pPr rtl="0"/>
            <a:r>
              <a:rPr lang="hu" dirty="0">
                <a:latin typeface="Bahnschrift" panose="020B0502040204020203" pitchFamily="34" charset="0"/>
              </a:rPr>
              <a:t>Bevált hálózatbiztonsági gyakorlatok</a:t>
            </a:r>
          </a:p>
        </p:txBody>
      </p:sp>
      <p:sp>
        <p:nvSpPr>
          <p:cNvPr id="5" name="Alcím 4"/>
          <p:cNvSpPr>
            <a:spLocks noGrp="1"/>
          </p:cNvSpPr>
          <p:nvPr>
            <p:ph type="subTitle" idx="1"/>
          </p:nvPr>
        </p:nvSpPr>
        <p:spPr>
          <a:xfrm>
            <a:off x="1726749" y="3372768"/>
            <a:ext cx="8735325" cy="1752600"/>
          </a:xfrm>
        </p:spPr>
        <p:txBody>
          <a:bodyPr rtlCol="0"/>
          <a:lstStyle/>
          <a:p>
            <a:pPr rtl="0"/>
            <a:r>
              <a:rPr lang="hu" dirty="0">
                <a:latin typeface="Bahnschrift" panose="020B0502040204020203" pitchFamily="34" charset="0"/>
              </a:rPr>
              <a:t>Noel</a:t>
            </a:r>
          </a:p>
        </p:txBody>
      </p:sp>
    </p:spTree>
    <p:extLst>
      <p:ext uri="{BB962C8B-B14F-4D97-AF65-F5344CB8AC3E}">
        <p14:creationId xmlns:p14="http://schemas.microsoft.com/office/powerpoint/2010/main" val="1332291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ím 12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 b="1" dirty="0">
                <a:latin typeface="Bahnschrift" panose="020B0502040204020203" pitchFamily="34" charset="0"/>
              </a:rPr>
              <a:t>Hálózatbiztonság alapjai – CIA hármas</a:t>
            </a:r>
            <a:endParaRPr lang="en-US" b="1" dirty="0">
              <a:latin typeface="Bahnschrift" panose="020B0502040204020203" pitchFamily="34" charset="0"/>
            </a:endParaRPr>
          </a:p>
        </p:txBody>
      </p:sp>
      <p:sp>
        <p:nvSpPr>
          <p:cNvPr id="14" name="Tartalom helye 13"/>
          <p:cNvSpPr>
            <a:spLocks noGrp="1"/>
          </p:cNvSpPr>
          <p:nvPr>
            <p:ph idx="1"/>
          </p:nvPr>
        </p:nvSpPr>
        <p:spPr>
          <a:xfrm>
            <a:off x="1218883" y="1701797"/>
            <a:ext cx="5091553" cy="4462272"/>
          </a:xfrm>
        </p:spPr>
        <p:txBody>
          <a:bodyPr rtlCol="0">
            <a:normAutofit lnSpcReduction="10000"/>
          </a:bodyPr>
          <a:lstStyle/>
          <a:p>
            <a:pPr marL="0" indent="0">
              <a:buNone/>
            </a:pPr>
            <a:r>
              <a:rPr lang="hu-HU" sz="2000" b="1" dirty="0">
                <a:latin typeface="Bahnschrift" panose="020B0502040204020203" pitchFamily="34" charset="0"/>
              </a:rPr>
              <a:t>Cél:</a:t>
            </a:r>
            <a:r>
              <a:rPr lang="hu-HU" sz="2000" dirty="0">
                <a:latin typeface="Bahnschrift" panose="020B0502040204020203" pitchFamily="34" charset="0"/>
              </a:rPr>
              <a:t> Az információk védelme a jogosulatlan hozzáféréstől, módosítástól és kieséstől.</a:t>
            </a:r>
          </a:p>
          <a:p>
            <a:pPr marL="0" indent="0">
              <a:buNone/>
            </a:pPr>
            <a:r>
              <a:rPr lang="hu-HU" sz="2000" b="1" dirty="0">
                <a:latin typeface="Bahnschrift" panose="020B0502040204020203" pitchFamily="34" charset="0"/>
              </a:rPr>
              <a:t>CIA hármas:</a:t>
            </a:r>
            <a:endParaRPr lang="hu-HU" sz="2000" dirty="0">
              <a:latin typeface="Bahnschrift" panose="020B0502040204020203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hu-HU" sz="2000" b="1" dirty="0">
                <a:latin typeface="Bahnschrift" panose="020B0502040204020203" pitchFamily="34" charset="0"/>
              </a:rPr>
              <a:t>Titoktartás (</a:t>
            </a:r>
            <a:r>
              <a:rPr lang="hu-HU" sz="2000" b="1" dirty="0" err="1">
                <a:latin typeface="Bahnschrift" panose="020B0502040204020203" pitchFamily="34" charset="0"/>
              </a:rPr>
              <a:t>Confidentiality</a:t>
            </a:r>
            <a:r>
              <a:rPr lang="hu-HU" sz="2000" b="1" dirty="0">
                <a:latin typeface="Bahnschrift" panose="020B0502040204020203" pitchFamily="34" charset="0"/>
              </a:rPr>
              <a:t>)</a:t>
            </a:r>
            <a:r>
              <a:rPr lang="hu-HU" sz="2000" dirty="0">
                <a:latin typeface="Bahnschrift" panose="020B0502040204020203" pitchFamily="34" charset="0"/>
              </a:rPr>
              <a:t> – Csak jogosultak férhetnek hozzá.</a:t>
            </a:r>
            <a:br>
              <a:rPr lang="hu-HU" sz="2000" dirty="0">
                <a:latin typeface="Bahnschrift" panose="020B0502040204020203" pitchFamily="34" charset="0"/>
              </a:rPr>
            </a:br>
            <a:r>
              <a:rPr lang="hu-HU" sz="2000" i="1" dirty="0">
                <a:latin typeface="Bahnschrift" panose="020B0502040204020203" pitchFamily="34" charset="0"/>
              </a:rPr>
              <a:t>Pl.: titkosítás AES-</a:t>
            </a:r>
            <a:r>
              <a:rPr lang="hu-HU" sz="2000" i="1" dirty="0" err="1">
                <a:latin typeface="Bahnschrift" panose="020B0502040204020203" pitchFamily="34" charset="0"/>
              </a:rPr>
              <a:t>sel</a:t>
            </a:r>
            <a:endParaRPr lang="hu-HU" sz="2000" dirty="0">
              <a:latin typeface="Bahnschrift" panose="020B0502040204020203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hu-HU" sz="2000" b="1" dirty="0">
                <a:latin typeface="Bahnschrift" panose="020B0502040204020203" pitchFamily="34" charset="0"/>
              </a:rPr>
              <a:t>Integritás (</a:t>
            </a:r>
            <a:r>
              <a:rPr lang="hu-HU" sz="2000" b="1" dirty="0" err="1">
                <a:latin typeface="Bahnschrift" panose="020B0502040204020203" pitchFamily="34" charset="0"/>
              </a:rPr>
              <a:t>Integrity</a:t>
            </a:r>
            <a:r>
              <a:rPr lang="hu-HU" sz="2000" b="1" dirty="0">
                <a:latin typeface="Bahnschrift" panose="020B0502040204020203" pitchFamily="34" charset="0"/>
              </a:rPr>
              <a:t>)</a:t>
            </a:r>
            <a:r>
              <a:rPr lang="hu-HU" sz="2000" dirty="0">
                <a:latin typeface="Bahnschrift" panose="020B0502040204020203" pitchFamily="34" charset="0"/>
              </a:rPr>
              <a:t> – Az adatok ne módosuljanak illetéktelenül.</a:t>
            </a:r>
            <a:br>
              <a:rPr lang="hu-HU" sz="2000" dirty="0">
                <a:latin typeface="Bahnschrift" panose="020B0502040204020203" pitchFamily="34" charset="0"/>
              </a:rPr>
            </a:br>
            <a:r>
              <a:rPr lang="hu-HU" sz="2000" i="1" dirty="0">
                <a:latin typeface="Bahnschrift" panose="020B0502040204020203" pitchFamily="34" charset="0"/>
              </a:rPr>
              <a:t>Pl.: SHA </a:t>
            </a:r>
            <a:r>
              <a:rPr lang="hu-HU" sz="2000" i="1" dirty="0" err="1">
                <a:latin typeface="Bahnschrift" panose="020B0502040204020203" pitchFamily="34" charset="0"/>
              </a:rPr>
              <a:t>hash</a:t>
            </a:r>
            <a:r>
              <a:rPr lang="hu-HU" sz="2000" i="1" dirty="0">
                <a:latin typeface="Bahnschrift" panose="020B0502040204020203" pitchFamily="34" charset="0"/>
              </a:rPr>
              <a:t> használata</a:t>
            </a:r>
            <a:endParaRPr lang="hu-HU" sz="2000" dirty="0">
              <a:latin typeface="Bahnschrift" panose="020B0502040204020203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hu-HU" sz="2000" b="1" dirty="0">
                <a:latin typeface="Bahnschrift" panose="020B0502040204020203" pitchFamily="34" charset="0"/>
              </a:rPr>
              <a:t>Elérhetőség (</a:t>
            </a:r>
            <a:r>
              <a:rPr lang="hu-HU" sz="2000" b="1" dirty="0" err="1">
                <a:latin typeface="Bahnschrift" panose="020B0502040204020203" pitchFamily="34" charset="0"/>
              </a:rPr>
              <a:t>Availability</a:t>
            </a:r>
            <a:r>
              <a:rPr lang="hu-HU" sz="2000" b="1" dirty="0">
                <a:latin typeface="Bahnschrift" panose="020B0502040204020203" pitchFamily="34" charset="0"/>
              </a:rPr>
              <a:t>)</a:t>
            </a:r>
            <a:r>
              <a:rPr lang="hu-HU" sz="2000" dirty="0">
                <a:latin typeface="Bahnschrift" panose="020B0502040204020203" pitchFamily="34" charset="0"/>
              </a:rPr>
              <a:t> – Az adatok mindig elérhetők legyenek.</a:t>
            </a:r>
            <a:br>
              <a:rPr lang="hu-HU" sz="2000" dirty="0">
                <a:latin typeface="Bahnschrift" panose="020B0502040204020203" pitchFamily="34" charset="0"/>
              </a:rPr>
            </a:br>
            <a:r>
              <a:rPr lang="hu-HU" sz="2000" i="1" dirty="0">
                <a:latin typeface="Bahnschrift" panose="020B0502040204020203" pitchFamily="34" charset="0"/>
              </a:rPr>
              <a:t>Pl.: redundáns rendszerek, biztonsági mentés</a:t>
            </a:r>
            <a:endParaRPr lang="hu-HU" sz="2000" dirty="0">
              <a:latin typeface="Bahnschrift" panose="020B0502040204020203" pitchFamily="34" charset="0"/>
            </a:endParaRP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09EB2066-0ABB-4297-B6F0-3233E4A1E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4651" y="1844824"/>
            <a:ext cx="4515291" cy="4522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114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ím 12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 b="1" dirty="0">
                <a:latin typeface="Bahnschrift" panose="020B0502040204020203" pitchFamily="34" charset="0"/>
              </a:rPr>
              <a:t>Mélységi védelem (</a:t>
            </a:r>
            <a:r>
              <a:rPr lang="hu-HU" b="1" dirty="0" err="1">
                <a:latin typeface="Bahnschrift" panose="020B0502040204020203" pitchFamily="34" charset="0"/>
              </a:rPr>
              <a:t>Defense</a:t>
            </a:r>
            <a:r>
              <a:rPr lang="hu-HU" b="1" dirty="0">
                <a:latin typeface="Bahnschrift" panose="020B0502040204020203" pitchFamily="34" charset="0"/>
              </a:rPr>
              <a:t> in </a:t>
            </a:r>
            <a:r>
              <a:rPr lang="hu-HU" b="1" dirty="0" err="1">
                <a:latin typeface="Bahnschrift" panose="020B0502040204020203" pitchFamily="34" charset="0"/>
              </a:rPr>
              <a:t>Depth</a:t>
            </a:r>
            <a:r>
              <a:rPr lang="hu-HU" b="1" dirty="0">
                <a:latin typeface="Bahnschrift" panose="020B0502040204020203" pitchFamily="34" charset="0"/>
              </a:rPr>
              <a:t>)</a:t>
            </a:r>
            <a:endParaRPr lang="en-US" b="1" dirty="0">
              <a:latin typeface="Bahnschrift" panose="020B0502040204020203" pitchFamily="34" charset="0"/>
            </a:endParaRPr>
          </a:p>
        </p:txBody>
      </p:sp>
      <p:sp>
        <p:nvSpPr>
          <p:cNvPr id="14" name="Tartalom helye 13"/>
          <p:cNvSpPr>
            <a:spLocks noGrp="1"/>
          </p:cNvSpPr>
          <p:nvPr>
            <p:ph idx="1"/>
          </p:nvPr>
        </p:nvSpPr>
        <p:spPr>
          <a:xfrm>
            <a:off x="1218883" y="1701797"/>
            <a:ext cx="5091553" cy="4462272"/>
          </a:xfrm>
        </p:spPr>
        <p:txBody>
          <a:bodyPr rtlCol="0">
            <a:normAutofit fontScale="85000" lnSpcReduction="10000"/>
          </a:bodyPr>
          <a:lstStyle/>
          <a:p>
            <a:pPr marL="0" indent="0">
              <a:buNone/>
            </a:pPr>
            <a:r>
              <a:rPr lang="hu-HU" sz="2600" b="1" dirty="0">
                <a:latin typeface="Bahnschrift" panose="020B0502040204020203" pitchFamily="34" charset="0"/>
              </a:rPr>
              <a:t>Lényeg:</a:t>
            </a:r>
            <a:r>
              <a:rPr lang="hu-HU" sz="2600" dirty="0">
                <a:latin typeface="Bahnschrift" panose="020B0502040204020203" pitchFamily="34" charset="0"/>
              </a:rPr>
              <a:t> Többrétegű biztonság a hálózat minden pontján.</a:t>
            </a:r>
          </a:p>
          <a:p>
            <a:pPr marL="0" indent="0">
              <a:buNone/>
            </a:pPr>
            <a:r>
              <a:rPr lang="hu-HU" b="1" dirty="0">
                <a:latin typeface="Bahnschrift" panose="020B0502040204020203" pitchFamily="34" charset="0"/>
              </a:rPr>
              <a:t>Fő elvek:</a:t>
            </a:r>
            <a:endParaRPr lang="hu-HU" dirty="0">
              <a:latin typeface="Bahnschrift" panose="020B0502040204020203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hu-HU" sz="2400" b="1" dirty="0">
                <a:latin typeface="Bahnschrift" panose="020B0502040204020203" pitchFamily="34" charset="0"/>
              </a:rPr>
              <a:t>Minden eszközt védeni kell</a:t>
            </a:r>
            <a:r>
              <a:rPr lang="hu-HU" sz="2400" dirty="0">
                <a:latin typeface="Bahnschrift" panose="020B0502040204020203" pitchFamily="34" charset="0"/>
              </a:rPr>
              <a:t> – routerek, </a:t>
            </a:r>
            <a:r>
              <a:rPr lang="hu-HU" sz="2400" dirty="0" err="1">
                <a:latin typeface="Bahnschrift" panose="020B0502040204020203" pitchFamily="34" charset="0"/>
              </a:rPr>
              <a:t>switchek</a:t>
            </a:r>
            <a:r>
              <a:rPr lang="hu-HU" sz="2400" dirty="0">
                <a:latin typeface="Bahnschrift" panose="020B0502040204020203" pitchFamily="34" charset="0"/>
              </a:rPr>
              <a:t>, szerverek, munkaállomások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sz="2400" b="1" dirty="0">
                <a:latin typeface="Bahnschrift" panose="020B0502040204020203" pitchFamily="34" charset="0"/>
              </a:rPr>
              <a:t>Réteges megközelítés</a:t>
            </a:r>
            <a:r>
              <a:rPr lang="hu-HU" sz="2400" dirty="0">
                <a:latin typeface="Bahnschrift" panose="020B0502040204020203" pitchFamily="34" charset="0"/>
              </a:rPr>
              <a:t> – több biztonsági szint együttműködése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sz="2400" b="1" dirty="0">
                <a:latin typeface="Bahnschrift" panose="020B0502040204020203" pitchFamily="34" charset="0"/>
              </a:rPr>
              <a:t>Meg kell erősíteni az eszközöket</a:t>
            </a:r>
            <a:r>
              <a:rPr lang="hu-HU" sz="2400" dirty="0">
                <a:latin typeface="Bahnschrift" panose="020B0502040204020203" pitchFamily="34" charset="0"/>
              </a:rPr>
              <a:t> – Jogosulatlan hozzáférés megakadályozása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sz="2400" b="1" dirty="0">
                <a:latin typeface="Bahnschrift" panose="020B0502040204020203" pitchFamily="34" charset="0"/>
              </a:rPr>
              <a:t>Adatvédelem minden kapcsolaton</a:t>
            </a:r>
            <a:r>
              <a:rPr lang="hu-HU" sz="2400" dirty="0">
                <a:latin typeface="Bahnschrift" panose="020B0502040204020203" pitchFamily="34" charset="0"/>
              </a:rPr>
              <a:t> – belső és külső forgalom titkosítása (pl. fióktelepek, távmunka)</a:t>
            </a:r>
          </a:p>
          <a:p>
            <a:pPr marL="0" indent="0">
              <a:buNone/>
            </a:pPr>
            <a:endParaRPr lang="hu-HU" sz="1200" dirty="0">
              <a:latin typeface="Bahnschrift" panose="020B0502040204020203" pitchFamily="34" charset="0"/>
            </a:endParaRP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41B873F3-62C3-4CC4-BF6B-2EAB77CFB8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0436" y="1701797"/>
            <a:ext cx="5446376" cy="4462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9727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ím 12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 b="1" dirty="0">
                <a:latin typeface="Bahnschrift" panose="020B0502040204020203" pitchFamily="34" charset="0"/>
              </a:rPr>
              <a:t>Tűzfalak szerepe és </a:t>
            </a:r>
            <a:r>
              <a:rPr lang="hu-HU" b="1" dirty="0" err="1">
                <a:latin typeface="Bahnschrift" panose="020B0502040204020203" pitchFamily="34" charset="0"/>
              </a:rPr>
              <a:t>korlátai</a:t>
            </a:r>
            <a:endParaRPr lang="en-US" b="1" dirty="0">
              <a:latin typeface="Bahnschrift" panose="020B0502040204020203" pitchFamily="34" charset="0"/>
            </a:endParaRPr>
          </a:p>
        </p:txBody>
      </p:sp>
      <p:sp>
        <p:nvSpPr>
          <p:cNvPr id="14" name="Tartalom helye 13"/>
          <p:cNvSpPr>
            <a:spLocks noGrp="1"/>
          </p:cNvSpPr>
          <p:nvPr>
            <p:ph idx="1"/>
          </p:nvPr>
        </p:nvSpPr>
        <p:spPr>
          <a:xfrm>
            <a:off x="1218883" y="1951931"/>
            <a:ext cx="5091553" cy="3527403"/>
          </a:xfrm>
        </p:spPr>
        <p:txBody>
          <a:bodyPr rtlCol="0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hu-HU" sz="2600" b="1" dirty="0">
                <a:latin typeface="Bahnschrift" panose="020B0502040204020203" pitchFamily="34" charset="0"/>
              </a:rPr>
              <a:t>Mit csinál a tűzfal?</a:t>
            </a:r>
            <a:br>
              <a:rPr lang="hu-HU" sz="2600" b="1" dirty="0">
                <a:latin typeface="Bahnschrift" panose="020B0502040204020203" pitchFamily="34" charset="0"/>
              </a:rPr>
            </a:br>
            <a:r>
              <a:rPr lang="hu-HU" sz="1800" dirty="0">
                <a:latin typeface="Bahnschrift" panose="020B0502040204020203" pitchFamily="34" charset="0"/>
              </a:rPr>
              <a:t>Ellenáll a hálózati támadásoknak. Egyetlen átjárási pont a belső és külső hálózat között. Kényszeríti a hozzáférési szabályokat.</a:t>
            </a:r>
          </a:p>
          <a:p>
            <a:pPr marL="0" indent="0">
              <a:buNone/>
            </a:pPr>
            <a:r>
              <a:rPr lang="hu-HU" b="1" dirty="0">
                <a:latin typeface="Bahnschrift" panose="020B0502040204020203" pitchFamily="34" charset="0"/>
              </a:rPr>
              <a:t>Előnyei:</a:t>
            </a:r>
          </a:p>
          <a:p>
            <a:r>
              <a:rPr lang="hu-HU" sz="1800" dirty="0">
                <a:latin typeface="Bahnschrift" panose="020B0502040204020203" pitchFamily="34" charset="0"/>
              </a:rPr>
              <a:t>Védi az érzékeny erőforrásokat</a:t>
            </a:r>
          </a:p>
          <a:p>
            <a:r>
              <a:rPr lang="hu-HU" sz="1800" dirty="0">
                <a:latin typeface="Bahnschrift" panose="020B0502040204020203" pitchFamily="34" charset="0"/>
              </a:rPr>
              <a:t>Tisztítja a protokollforgalmat</a:t>
            </a:r>
          </a:p>
          <a:p>
            <a:r>
              <a:rPr lang="hu-HU" sz="1800" dirty="0">
                <a:latin typeface="Bahnschrift" panose="020B0502040204020203" pitchFamily="34" charset="0"/>
              </a:rPr>
              <a:t>Blokkolja a rosszindulatú adatokat</a:t>
            </a:r>
            <a:endParaRPr lang="hu-HU" dirty="0">
              <a:latin typeface="Bahnschrift" panose="020B0502040204020203" pitchFamily="34" charset="0"/>
            </a:endParaRP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95B8078E-52F6-4F67-9D36-84BA55A91A9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6460" y="1628800"/>
            <a:ext cx="5244075" cy="3933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8547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ím 12"/>
          <p:cNvSpPr>
            <a:spLocks noGrp="1"/>
          </p:cNvSpPr>
          <p:nvPr>
            <p:ph type="title"/>
          </p:nvPr>
        </p:nvSpPr>
        <p:spPr>
          <a:xfrm>
            <a:off x="606814" y="739208"/>
            <a:ext cx="5595609" cy="1223963"/>
          </a:xfrm>
        </p:spPr>
        <p:txBody>
          <a:bodyPr rtlCol="0"/>
          <a:lstStyle/>
          <a:p>
            <a:pPr algn="ctr" rtl="0"/>
            <a:r>
              <a:rPr lang="hu-HU" b="1" dirty="0">
                <a:latin typeface="Bahnschrift" panose="020B0502040204020203" pitchFamily="34" charset="0"/>
              </a:rPr>
              <a:t>IPS</a:t>
            </a:r>
            <a:endParaRPr lang="en-US" b="1" dirty="0">
              <a:latin typeface="Bahnschrift" panose="020B0502040204020203" pitchFamily="34" charset="0"/>
            </a:endParaRPr>
          </a:p>
        </p:txBody>
      </p:sp>
      <p:sp>
        <p:nvSpPr>
          <p:cNvPr id="14" name="Tartalom helye 13"/>
          <p:cNvSpPr>
            <a:spLocks noGrp="1"/>
          </p:cNvSpPr>
          <p:nvPr>
            <p:ph idx="1"/>
          </p:nvPr>
        </p:nvSpPr>
        <p:spPr>
          <a:xfrm>
            <a:off x="858843" y="1963171"/>
            <a:ext cx="5091553" cy="3527403"/>
          </a:xfrm>
        </p:spPr>
        <p:txBody>
          <a:bodyPr rtlCol="0">
            <a:normAutofit fontScale="77500" lnSpcReduction="20000"/>
          </a:bodyPr>
          <a:lstStyle/>
          <a:p>
            <a:pPr marL="0" indent="0" algn="ctr">
              <a:buNone/>
            </a:pPr>
            <a:r>
              <a:rPr lang="hu-HU" dirty="0">
                <a:latin typeface="Bahnschrift" panose="020B0502040204020203" pitchFamily="34" charset="0"/>
              </a:rPr>
              <a:t>(</a:t>
            </a:r>
            <a:r>
              <a:rPr lang="hu-HU" dirty="0" err="1">
                <a:latin typeface="Bahnschrift" panose="020B0502040204020203" pitchFamily="34" charset="0"/>
              </a:rPr>
              <a:t>Intrusion</a:t>
            </a:r>
            <a:r>
              <a:rPr lang="hu-HU" dirty="0">
                <a:latin typeface="Bahnschrift" panose="020B0502040204020203" pitchFamily="34" charset="0"/>
              </a:rPr>
              <a:t> </a:t>
            </a:r>
            <a:r>
              <a:rPr lang="hu-HU" dirty="0" err="1">
                <a:latin typeface="Bahnschrift" panose="020B0502040204020203" pitchFamily="34" charset="0"/>
              </a:rPr>
              <a:t>Prevention</a:t>
            </a:r>
            <a:r>
              <a:rPr lang="hu-HU" dirty="0">
                <a:latin typeface="Bahnschrift" panose="020B0502040204020203" pitchFamily="34" charset="0"/>
              </a:rPr>
              <a:t> System)</a:t>
            </a:r>
          </a:p>
          <a:p>
            <a:pPr marL="0" indent="0" algn="ctr">
              <a:lnSpc>
                <a:spcPct val="110000"/>
              </a:lnSpc>
              <a:buNone/>
            </a:pPr>
            <a:r>
              <a:rPr lang="hu-HU" dirty="0">
                <a:latin typeface="Bahnschrift" panose="020B0502040204020203" pitchFamily="34" charset="0"/>
              </a:rPr>
              <a:t>Jól méretezhető behatolásmegelőző rendszer.</a:t>
            </a:r>
          </a:p>
          <a:p>
            <a:pPr marL="0" indent="0" algn="ctr">
              <a:lnSpc>
                <a:spcPct val="110000"/>
              </a:lnSpc>
              <a:buNone/>
            </a:pPr>
            <a:endParaRPr lang="hu-HU" dirty="0">
              <a:latin typeface="Bahnschrift" panose="020B0502040204020203" pitchFamily="34" charset="0"/>
            </a:endParaRPr>
          </a:p>
          <a:p>
            <a:pPr marL="0" indent="0" algn="ctr">
              <a:buNone/>
            </a:pPr>
            <a:r>
              <a:rPr lang="hu-HU" sz="4600" b="1" dirty="0">
                <a:latin typeface="Bahnschrift" panose="020B0502040204020203" pitchFamily="34" charset="0"/>
              </a:rPr>
              <a:t>IDS</a:t>
            </a:r>
          </a:p>
          <a:p>
            <a:pPr marL="0" indent="0" algn="ctr">
              <a:buNone/>
            </a:pPr>
            <a:r>
              <a:rPr lang="hu-HU" dirty="0">
                <a:latin typeface="Bahnschrift" panose="020B0502040204020203" pitchFamily="34" charset="0"/>
              </a:rPr>
              <a:t>(</a:t>
            </a:r>
            <a:r>
              <a:rPr lang="hu-HU" dirty="0" err="1">
                <a:latin typeface="Bahnschrift" panose="020B0502040204020203" pitchFamily="34" charset="0"/>
              </a:rPr>
              <a:t>Intrusion</a:t>
            </a:r>
            <a:r>
              <a:rPr lang="hu-HU" dirty="0">
                <a:latin typeface="Bahnschrift" panose="020B0502040204020203" pitchFamily="34" charset="0"/>
              </a:rPr>
              <a:t> </a:t>
            </a:r>
            <a:r>
              <a:rPr lang="hu-HU" dirty="0" err="1">
                <a:latin typeface="Bahnschrift" panose="020B0502040204020203" pitchFamily="34" charset="0"/>
              </a:rPr>
              <a:t>Detection</a:t>
            </a:r>
            <a:r>
              <a:rPr lang="hu-HU" dirty="0">
                <a:latin typeface="Bahnschrift" panose="020B0502040204020203" pitchFamily="34" charset="0"/>
              </a:rPr>
              <a:t> System)</a:t>
            </a:r>
          </a:p>
          <a:p>
            <a:pPr marL="0" indent="0" algn="ctr">
              <a:lnSpc>
                <a:spcPct val="110000"/>
              </a:lnSpc>
              <a:buNone/>
            </a:pPr>
            <a:r>
              <a:rPr lang="hu-HU" dirty="0">
                <a:latin typeface="Bahnschrift" panose="020B0502040204020203" pitchFamily="34" charset="0"/>
              </a:rPr>
              <a:t>Költséghatékony észlelési és megelőzési rendszer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210B3566-C080-4F23-B38E-BC9EBBA466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0396" y="764704"/>
            <a:ext cx="5772101" cy="5506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773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ím 12"/>
          <p:cNvSpPr>
            <a:spLocks noGrp="1"/>
          </p:cNvSpPr>
          <p:nvPr>
            <p:ph type="title"/>
          </p:nvPr>
        </p:nvSpPr>
        <p:spPr>
          <a:xfrm>
            <a:off x="606814" y="739208"/>
            <a:ext cx="5595609" cy="1223963"/>
          </a:xfrm>
        </p:spPr>
        <p:txBody>
          <a:bodyPr rtlCol="0"/>
          <a:lstStyle/>
          <a:p>
            <a:pPr algn="ctr" rtl="0"/>
            <a:r>
              <a:rPr lang="en-US" b="1" dirty="0">
                <a:latin typeface="Bahnschrift" panose="020B0502040204020203" pitchFamily="34" charset="0"/>
              </a:rPr>
              <a:t>Cisco Email Security Appliance (ESA)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C7C6D3B7-C7A4-4409-83F6-32BD9702B5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1844" y="2276872"/>
            <a:ext cx="3816424" cy="2995289"/>
          </a:xfrm>
        </p:spPr>
        <p:txBody>
          <a:bodyPr>
            <a:noAutofit/>
          </a:bodyPr>
          <a:lstStyle/>
          <a:p>
            <a:r>
              <a:rPr lang="hu-HU" sz="2400" dirty="0"/>
              <a:t>Figyeli az </a:t>
            </a:r>
            <a:r>
              <a:rPr lang="hu-HU" sz="2400" b="1" dirty="0"/>
              <a:t>SMTP-forgalmat</a:t>
            </a:r>
          </a:p>
          <a:p>
            <a:r>
              <a:rPr lang="hu-HU" sz="2400" dirty="0" err="1"/>
              <a:t>Valósidejű</a:t>
            </a:r>
            <a:r>
              <a:rPr lang="hu-HU" sz="2400" dirty="0"/>
              <a:t> frissítések a </a:t>
            </a:r>
            <a:r>
              <a:rPr lang="hu-HU" sz="2400" b="1" dirty="0"/>
              <a:t>Cisco </a:t>
            </a:r>
            <a:r>
              <a:rPr lang="hu-HU" sz="2400" b="1" dirty="0" err="1"/>
              <a:t>Talos</a:t>
            </a:r>
            <a:r>
              <a:rPr lang="hu-HU" sz="2400" dirty="0"/>
              <a:t> rendszertől</a:t>
            </a:r>
          </a:p>
          <a:p>
            <a:r>
              <a:rPr lang="hu-HU" sz="2400" dirty="0"/>
              <a:t>Véd az </a:t>
            </a:r>
            <a:r>
              <a:rPr lang="hu-HU" sz="2400" b="1" dirty="0"/>
              <a:t>adathalászat</a:t>
            </a:r>
            <a:r>
              <a:rPr lang="hu-HU" sz="2400" dirty="0"/>
              <a:t> és </a:t>
            </a:r>
            <a:r>
              <a:rPr lang="hu-HU" sz="2400" b="1" dirty="0"/>
              <a:t>e-mail alapú fenyegetések</a:t>
            </a:r>
            <a:r>
              <a:rPr lang="hu-HU" sz="2400" dirty="0"/>
              <a:t> ellen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A74EBC82-3AB2-4498-AD70-0156FD2C9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2284" y="2204864"/>
            <a:ext cx="6670600" cy="3001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1823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ím 12"/>
          <p:cNvSpPr>
            <a:spLocks noGrp="1"/>
          </p:cNvSpPr>
          <p:nvPr>
            <p:ph type="title"/>
          </p:nvPr>
        </p:nvSpPr>
        <p:spPr>
          <a:xfrm>
            <a:off x="606814" y="739208"/>
            <a:ext cx="5595609" cy="1223963"/>
          </a:xfrm>
        </p:spPr>
        <p:txBody>
          <a:bodyPr rtlCol="0"/>
          <a:lstStyle/>
          <a:p>
            <a:pPr algn="ctr" rtl="0"/>
            <a:r>
              <a:rPr lang="en-US" b="1" dirty="0">
                <a:latin typeface="Bahnschrift" panose="020B0502040204020203" pitchFamily="34" charset="0"/>
              </a:rPr>
              <a:t>Cisco Web Security Appliance (WSA)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C7C6D3B7-C7A4-4409-83F6-32BD9702B5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1844" y="2276872"/>
            <a:ext cx="4032448" cy="3312368"/>
          </a:xfrm>
        </p:spPr>
        <p:txBody>
          <a:bodyPr>
            <a:noAutofit/>
          </a:bodyPr>
          <a:lstStyle/>
          <a:p>
            <a:r>
              <a:rPr lang="hu-HU" sz="2400" dirty="0"/>
              <a:t>Véd a </a:t>
            </a:r>
            <a:r>
              <a:rPr lang="hu-HU" sz="2400" b="1" dirty="0"/>
              <a:t>webes kártevőktől</a:t>
            </a:r>
            <a:r>
              <a:rPr lang="hu-HU" sz="2400" dirty="0"/>
              <a:t> és veszélyes tartalmaktól</a:t>
            </a:r>
          </a:p>
          <a:p>
            <a:r>
              <a:rPr lang="hu-HU" sz="2400" dirty="0"/>
              <a:t>Szűri és </a:t>
            </a:r>
            <a:r>
              <a:rPr lang="hu-HU" sz="2400" b="1" dirty="0"/>
              <a:t>szabályozza a webhozzáférést</a:t>
            </a:r>
          </a:p>
          <a:p>
            <a:r>
              <a:rPr lang="hu-HU" sz="2400" dirty="0"/>
              <a:t>Képes </a:t>
            </a:r>
            <a:r>
              <a:rPr lang="hu-HU" sz="2400" b="1" dirty="0"/>
              <a:t>URL-szűrésre, titkosításra és jelentéskészítésre</a:t>
            </a: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D3887413-12E2-4EFC-9577-D54A40365E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4292" y="2276872"/>
            <a:ext cx="6902578" cy="3001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8384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ím 12"/>
          <p:cNvSpPr>
            <a:spLocks noGrp="1"/>
          </p:cNvSpPr>
          <p:nvPr>
            <p:ph type="title"/>
          </p:nvPr>
        </p:nvSpPr>
        <p:spPr>
          <a:xfrm>
            <a:off x="2259986" y="2780928"/>
            <a:ext cx="7668852" cy="972108"/>
          </a:xfrm>
        </p:spPr>
        <p:txBody>
          <a:bodyPr rtlCol="0">
            <a:noAutofit/>
          </a:bodyPr>
          <a:lstStyle/>
          <a:p>
            <a:pPr algn="ctr" rtl="0"/>
            <a:r>
              <a:rPr lang="hu-HU" sz="6000" b="1" dirty="0">
                <a:latin typeface="Bahnschrift" panose="020B0502040204020203" pitchFamily="34" charset="0"/>
              </a:rPr>
              <a:t>Köszi a figyelmet!</a:t>
            </a:r>
            <a:endParaRPr lang="en-US" sz="6000" b="1" dirty="0">
              <a:latin typeface="Bahnschrift" panose="020B0502040204020203" pitchFamily="34" charset="0"/>
            </a:endParaRP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96E24C33-7D09-44EC-9219-B0679CEC64D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7640" y="3890138"/>
            <a:ext cx="2753544" cy="2753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5648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chnológia (16x9)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/>
      <a:bodyPr rtlCol="0" anchor="ctr"/>
      <a:lstStyle>
        <a:defPPr algn="ctr">
          <a:defRPr sz="28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800"/>
        </a:defPPr>
      </a:lstStyle>
    </a:txDef>
  </a:objectDefaults>
  <a:extraClrSchemeLst/>
  <a:extLst>
    <a:ext uri="{05A4C25C-085E-4340-85A3-A5531E510DB2}">
      <thm15:themeFamily xmlns:thm15="http://schemas.microsoft.com/office/thememl/2012/main" name="TF02787990.potx" id="{BDB9CD5E-36EC-45F3-B87D-6D062B8A3823}" vid="{51682E2F-7C85-4D6F-AD40-072EFC83910D}"/>
    </a:ext>
  </a:extLst>
</a:theme>
</file>

<file path=ppt/theme/theme2.xml><?xml version="1.0" encoding="utf-8"?>
<a:theme xmlns:a="http://schemas.openxmlformats.org/drawingml/2006/main" name="Office-téma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-téma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ocPublishedLinkedAssetsLookup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LocLastLocAttemptVersionTypeLookup xmlns="4873beb7-5857-4685-be1f-d57550cc96cc" xsi:nil="true"/>
    <DirectSourceMarket xmlns="4873beb7-5857-4685-be1f-d57550cc96cc" xsi:nil="true"/>
    <ThumbnailAssetId xmlns="4873beb7-5857-4685-be1f-d57550cc96cc" xsi:nil="true"/>
    <PrimaryImageGen xmlns="4873beb7-5857-4685-be1f-d57550cc96cc">false</PrimaryImageGen>
    <LocNewPublishedVersionLookup xmlns="4873beb7-5857-4685-be1f-d57550cc96cc" xsi:nil="true"/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LocOverallPublishStatusLookup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LocOverallLocStatusLookup xmlns="4873beb7-5857-4685-be1f-d57550cc96cc" xsi:nil="true"/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1345093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This simple template design works for technology and  businesses, but it's versatile enough to use in other contexts.  It features multiple slide layouts designed for widescreen (16x9 resolution) and includes a sample SmartArt list and chart that are easily editable.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2011-11-26T00:30:00+00:00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TemplateStatus xmlns="4873beb7-5857-4685-be1f-d57550cc96cc">Complete</TemplateStatus>
    <Downloads xmlns="4873beb7-5857-4685-be1f-d57550cc96cc">0</Downloads>
    <OOCacheId xmlns="4873beb7-5857-4685-be1f-d57550cc96cc" xsi:nil="true"/>
    <IsDeleted xmlns="4873beb7-5857-4685-be1f-d57550cc96cc">false</IsDeleted>
    <LocPublishedDependentAssetsLookup xmlns="4873beb7-5857-4685-be1f-d57550cc96cc" xsi:nil="true"/>
    <TPExecutable xmlns="4873beb7-5857-4685-be1f-d57550cc96cc" xsi:nil="true"/>
    <EditorialTags xmlns="4873beb7-5857-4685-be1f-d57550cc96cc" xsi:nil="true"/>
    <SubmitterId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TP102787989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694266</LocLastLocAttemptVersionLookup>
    <LocProcessedForHandoffsLookup xmlns="4873beb7-5857-4685-be1f-d57550cc96cc" xsi:nil="true"/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LocOverallPreviewStatusLookup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 xsi:nil="true"/>
    <OutputCachingOn xmlns="4873beb7-5857-4685-be1f-d57550cc96cc">false</OutputCachingOn>
    <AverageRating xmlns="4873beb7-5857-4685-be1f-d57550cc96cc" xsi:nil="true"/>
    <APAuthor xmlns="4873beb7-5857-4685-be1f-d57550cc96cc">
      <UserInfo>
        <DisplayName>REDMOND\kristaa</DisplayName>
        <AccountId>136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LocProcessedForMarketsLookup xmlns="4873beb7-5857-4685-be1f-d57550cc96cc" xsi:nil="true"/>
    <TPLaunchHelpLinkType xmlns="4873beb7-5857-4685-be1f-d57550cc96cc">Template</TPLaunchHelpLinkType>
    <OriginalRelease xmlns="4873beb7-5857-4685-be1f-d57550cc96cc">15</OriginalRelease>
    <LocalizationTagsTaxHTField0 xmlns="4873beb7-5857-4685-be1f-d57550cc96cc">
      <Terms xmlns="http://schemas.microsoft.com/office/infopath/2007/PartnerControls"/>
    </LocalizationTagsTaxHTField0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LocOverallHandbackStatusLookup xmlns="4873beb7-5857-4685-be1f-d57550cc96cc" xsi:nil="true"/>
    <ShowIn xmlns="4873beb7-5857-4685-be1f-d57550cc96cc">Show everywhere</ShowIn>
    <UANotes xmlns="4873beb7-5857-4685-be1f-d57550cc96cc" xsi:nil="true"/>
    <InternalTagsTaxHTField0 xmlns="4873beb7-5857-4685-be1f-d57550cc96cc">
      <Terms xmlns="http://schemas.microsoft.com/office/infopath/2007/PartnerControls"/>
    </InternalTagsTaxHTField0>
    <CSXHash xmlns="4873beb7-5857-4685-be1f-d57550cc96cc" xsi:nil="true"/>
    <VoteCount xmlns="4873beb7-5857-4685-be1f-d57550cc96cc" xsi:nil="true"/>
    <AssetExpire xmlns="4873beb7-5857-4685-be1f-d57550cc96cc">2029-05-12T07:00:00+00:00</AssetExpire>
    <DSATActionTaken xmlns="4873beb7-5857-4685-be1f-d57550cc96cc" xsi:nil="true"/>
    <CSXSubmissionMarket xmlns="4873beb7-5857-4685-be1f-d57550cc96cc" xsi:nil="true"/>
    <LocMarketGroupTiers2 xmlns="4873beb7-5857-4685-be1f-d57550cc96cc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60C67BEE-D13F-4BD2-98A5-34D8A0977F68}">
  <ds:schemaRefs>
    <ds:schemaRef ds:uri="4873beb7-5857-4685-be1f-d57550cc96cc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A09BF4D4-EF60-4196-BFC3-9462D60797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Hármas áramkört ábrázoló bemutató (szélesvásznú)</Template>
  <TotalTime>0</TotalTime>
  <Words>257</Words>
  <Application>Microsoft Office PowerPoint</Application>
  <PresentationFormat>Egyéni</PresentationFormat>
  <Paragraphs>37</Paragraphs>
  <Slides>8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2" baseType="lpstr">
      <vt:lpstr>Arial</vt:lpstr>
      <vt:lpstr>Bahnschrift</vt:lpstr>
      <vt:lpstr>Calibri</vt:lpstr>
      <vt:lpstr>Technológia (16x9)</vt:lpstr>
      <vt:lpstr>Bevált hálózatbiztonsági gyakorlatok</vt:lpstr>
      <vt:lpstr>Hálózatbiztonság alapjai – CIA hármas</vt:lpstr>
      <vt:lpstr>Mélységi védelem (Defense in Depth)</vt:lpstr>
      <vt:lpstr>Tűzfalak szerepe és korlátai</vt:lpstr>
      <vt:lpstr>IPS</vt:lpstr>
      <vt:lpstr>Cisco Email Security Appliance (ESA)</vt:lpstr>
      <vt:lpstr>Cisco Web Security Appliance (WSA)</vt:lpstr>
      <vt:lpstr>Köszi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Bevált hálózatbiztonsági gyakorlatok</dc:title>
  <dc:creator>Halász Noel</dc:creator>
  <cp:lastModifiedBy>Halász Noel</cp:lastModifiedBy>
  <cp:revision>21</cp:revision>
  <dcterms:created xsi:type="dcterms:W3CDTF">2025-11-04T07:29:15Z</dcterms:created>
  <dcterms:modified xsi:type="dcterms:W3CDTF">2025-11-04T08:30:58Z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</Properties>
</file>