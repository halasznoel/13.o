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69" r:id="rId7"/>
    <p:sldId id="271" r:id="rId8"/>
    <p:sldId id="272" r:id="rId9"/>
    <p:sldId id="273" r:id="rId10"/>
    <p:sldId id="274" r:id="rId11"/>
    <p:sldId id="275" r:id="rId12"/>
  </p:sldIdLst>
  <p:sldSz cx="12188825" cy="6858000"/>
  <p:notesSz cx="6858000" cy="9144000"/>
  <p:defaultTextStyle>
    <a:defPPr rtl="0">
      <a:defRPr lang="hu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>
      <p:cViewPr varScale="1">
        <p:scale>
          <a:sx n="89" d="100"/>
          <a:sy n="89" d="100"/>
        </p:scale>
        <p:origin x="618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Mintaszöveg szerkesztése</a:t>
            </a:r>
          </a:p>
          <a:p>
            <a:pPr lvl="1" rtl="0"/>
            <a:r>
              <a:t>Második szint</a:t>
            </a:r>
          </a:p>
          <a:p>
            <a:pPr lvl="2" rtl="0"/>
            <a:r>
              <a:t>Harmadik szint</a:t>
            </a:r>
          </a:p>
          <a:p>
            <a:pPr lvl="3" rtl="0"/>
            <a:r>
              <a:t>Negyedik szint</a:t>
            </a:r>
          </a:p>
          <a:p>
            <a:pPr lvl="4" rtl="0"/>
            <a:r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átlók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Egyenes összekötő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Egyenes összekötő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alsó sorok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Szabadkézi sokszög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Szabadkézi sokszög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Szabadkézi sokszög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/>
          </a:p>
        </p:txBody>
      </p:sp>
      <p:sp>
        <p:nvSpPr>
          <p:cNvPr id="22" name="Dátum hely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23" name="Élőláb hely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Dia számának hely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átlók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Egyenes összekötő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Egyenes összekötő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Egyenes összekötő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Kép helyőrzője 2" descr="Üres helyőrző kép hozzáadásához. Kattintson a helyőrzőre, és jelölje ki a hozzáadni kívánt képet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hu-HU"/>
              <a:t>Kép beszúrásához kattintson az ikonra</a:t>
            </a:r>
            <a:endParaRPr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l oldali sorok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Szabadkézi sokszög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Szabadkézi sokszög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Szabadkézi sokszög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2016. 08. 01.</a:t>
            </a:r>
            <a:endParaRPr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726749" y="1340768"/>
            <a:ext cx="8735325" cy="2000251"/>
          </a:xfrm>
        </p:spPr>
        <p:txBody>
          <a:bodyPr rtlCol="0"/>
          <a:lstStyle/>
          <a:p>
            <a:pPr rtl="0"/>
            <a:r>
              <a:rPr lang="hu" dirty="0">
                <a:latin typeface="Bahnschrift" panose="020B0502040204020203" pitchFamily="34" charset="0"/>
              </a:rPr>
              <a:t>Bevált hálózatbiztonsági gyakorlatok</a:t>
            </a:r>
          </a:p>
        </p:txBody>
      </p:sp>
      <p:sp>
        <p:nvSpPr>
          <p:cNvPr id="5" name="Alcím 4"/>
          <p:cNvSpPr>
            <a:spLocks noGrp="1"/>
          </p:cNvSpPr>
          <p:nvPr>
            <p:ph type="subTitle" idx="1"/>
          </p:nvPr>
        </p:nvSpPr>
        <p:spPr>
          <a:xfrm>
            <a:off x="1726749" y="3372768"/>
            <a:ext cx="8735325" cy="1752600"/>
          </a:xfrm>
        </p:spPr>
        <p:txBody>
          <a:bodyPr rtlCol="0"/>
          <a:lstStyle/>
          <a:p>
            <a:pPr rtl="0"/>
            <a:r>
              <a:rPr lang="hu" dirty="0">
                <a:latin typeface="Bahnschrift" panose="020B0502040204020203" pitchFamily="34" charset="0"/>
              </a:rPr>
              <a:t>Noel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b="1" dirty="0">
                <a:latin typeface="Bahnschrift" panose="020B0502040204020203" pitchFamily="34" charset="0"/>
              </a:rPr>
              <a:t>Hálózatbiztonság alapjai – CIA hármas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4" name="Tartalom helye 13"/>
          <p:cNvSpPr>
            <a:spLocks noGrp="1"/>
          </p:cNvSpPr>
          <p:nvPr>
            <p:ph idx="1"/>
          </p:nvPr>
        </p:nvSpPr>
        <p:spPr>
          <a:xfrm>
            <a:off x="1218883" y="1701797"/>
            <a:ext cx="5091553" cy="4462272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</a:pPr>
            <a:r>
              <a:rPr lang="hu-HU" sz="2000" b="1" dirty="0">
                <a:latin typeface="Bahnschrift" panose="020B0502040204020203" pitchFamily="34" charset="0"/>
              </a:rPr>
              <a:t>Cél:</a:t>
            </a:r>
            <a:r>
              <a:rPr lang="hu-HU" sz="2000" dirty="0">
                <a:latin typeface="Bahnschrift" panose="020B0502040204020203" pitchFamily="34" charset="0"/>
              </a:rPr>
              <a:t> Az információk védelme a jogosulatlan hozzáféréstől, módosítástól és kieséstől.</a:t>
            </a:r>
          </a:p>
          <a:p>
            <a:pPr marL="0" indent="0">
              <a:buNone/>
            </a:pPr>
            <a:r>
              <a:rPr lang="hu-HU" sz="2000" b="1" dirty="0">
                <a:latin typeface="Bahnschrift" panose="020B0502040204020203" pitchFamily="34" charset="0"/>
              </a:rPr>
              <a:t>CIA hármas:</a:t>
            </a:r>
            <a:endParaRPr lang="hu-HU" sz="20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Bahnschrift" panose="020B0502040204020203" pitchFamily="34" charset="0"/>
              </a:rPr>
              <a:t>Titoktartás (</a:t>
            </a:r>
            <a:r>
              <a:rPr lang="hu-HU" sz="2000" b="1" dirty="0" err="1">
                <a:latin typeface="Bahnschrift" panose="020B0502040204020203" pitchFamily="34" charset="0"/>
              </a:rPr>
              <a:t>Confidentiality</a:t>
            </a:r>
            <a:r>
              <a:rPr lang="hu-HU" sz="2000" b="1" dirty="0">
                <a:latin typeface="Bahnschrift" panose="020B0502040204020203" pitchFamily="34" charset="0"/>
              </a:rPr>
              <a:t>)</a:t>
            </a:r>
            <a:r>
              <a:rPr lang="hu-HU" sz="2000" dirty="0">
                <a:latin typeface="Bahnschrift" panose="020B0502040204020203" pitchFamily="34" charset="0"/>
              </a:rPr>
              <a:t> – Csak jogosultak férhetnek hozzá.</a:t>
            </a:r>
            <a:br>
              <a:rPr lang="hu-HU" sz="2000" dirty="0">
                <a:latin typeface="Bahnschrift" panose="020B0502040204020203" pitchFamily="34" charset="0"/>
              </a:rPr>
            </a:br>
            <a:r>
              <a:rPr lang="hu-HU" sz="2000" i="1" dirty="0">
                <a:latin typeface="Bahnschrift" panose="020B0502040204020203" pitchFamily="34" charset="0"/>
              </a:rPr>
              <a:t>Pl.: titkosítás AES-</a:t>
            </a:r>
            <a:r>
              <a:rPr lang="hu-HU" sz="2000" i="1" dirty="0" err="1">
                <a:latin typeface="Bahnschrift" panose="020B0502040204020203" pitchFamily="34" charset="0"/>
              </a:rPr>
              <a:t>sel</a:t>
            </a:r>
            <a:endParaRPr lang="hu-HU" sz="20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Bahnschrift" panose="020B0502040204020203" pitchFamily="34" charset="0"/>
              </a:rPr>
              <a:t>Integritás (</a:t>
            </a:r>
            <a:r>
              <a:rPr lang="hu-HU" sz="2000" b="1" dirty="0" err="1">
                <a:latin typeface="Bahnschrift" panose="020B0502040204020203" pitchFamily="34" charset="0"/>
              </a:rPr>
              <a:t>Integrity</a:t>
            </a:r>
            <a:r>
              <a:rPr lang="hu-HU" sz="2000" b="1" dirty="0">
                <a:latin typeface="Bahnschrift" panose="020B0502040204020203" pitchFamily="34" charset="0"/>
              </a:rPr>
              <a:t>)</a:t>
            </a:r>
            <a:r>
              <a:rPr lang="hu-HU" sz="2000" dirty="0">
                <a:latin typeface="Bahnschrift" panose="020B0502040204020203" pitchFamily="34" charset="0"/>
              </a:rPr>
              <a:t> – Az adatok ne módosuljanak illetéktelenül.</a:t>
            </a:r>
            <a:br>
              <a:rPr lang="hu-HU" sz="2000" dirty="0">
                <a:latin typeface="Bahnschrift" panose="020B0502040204020203" pitchFamily="34" charset="0"/>
              </a:rPr>
            </a:br>
            <a:r>
              <a:rPr lang="hu-HU" sz="2000" i="1" dirty="0">
                <a:latin typeface="Bahnschrift" panose="020B0502040204020203" pitchFamily="34" charset="0"/>
              </a:rPr>
              <a:t>Pl.: SHA </a:t>
            </a:r>
            <a:r>
              <a:rPr lang="hu-HU" sz="2000" i="1" dirty="0" err="1">
                <a:latin typeface="Bahnschrift" panose="020B0502040204020203" pitchFamily="34" charset="0"/>
              </a:rPr>
              <a:t>hash</a:t>
            </a:r>
            <a:r>
              <a:rPr lang="hu-HU" sz="2000" i="1" dirty="0">
                <a:latin typeface="Bahnschrift" panose="020B0502040204020203" pitchFamily="34" charset="0"/>
              </a:rPr>
              <a:t> használata</a:t>
            </a:r>
            <a:endParaRPr lang="hu-HU" sz="20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Bahnschrift" panose="020B0502040204020203" pitchFamily="34" charset="0"/>
              </a:rPr>
              <a:t>Elérhetőség (</a:t>
            </a:r>
            <a:r>
              <a:rPr lang="hu-HU" sz="2000" b="1" dirty="0" err="1">
                <a:latin typeface="Bahnschrift" panose="020B0502040204020203" pitchFamily="34" charset="0"/>
              </a:rPr>
              <a:t>Availability</a:t>
            </a:r>
            <a:r>
              <a:rPr lang="hu-HU" sz="2000" b="1" dirty="0">
                <a:latin typeface="Bahnschrift" panose="020B0502040204020203" pitchFamily="34" charset="0"/>
              </a:rPr>
              <a:t>)</a:t>
            </a:r>
            <a:r>
              <a:rPr lang="hu-HU" sz="2000" dirty="0">
                <a:latin typeface="Bahnschrift" panose="020B0502040204020203" pitchFamily="34" charset="0"/>
              </a:rPr>
              <a:t> – Az adatok mindig elérhetők legyenek.</a:t>
            </a:r>
            <a:br>
              <a:rPr lang="hu-HU" sz="2000" dirty="0">
                <a:latin typeface="Bahnschrift" panose="020B0502040204020203" pitchFamily="34" charset="0"/>
              </a:rPr>
            </a:br>
            <a:r>
              <a:rPr lang="hu-HU" sz="2000" i="1" dirty="0">
                <a:latin typeface="Bahnschrift" panose="020B0502040204020203" pitchFamily="34" charset="0"/>
              </a:rPr>
              <a:t>Pl.: redundáns rendszerek, biztonsági mentés</a:t>
            </a:r>
            <a:endParaRPr lang="hu-HU" sz="2000" dirty="0">
              <a:latin typeface="Bahnschrift" panose="020B0502040204020203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9EB2066-0ABB-4297-B6F0-3233E4A1E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651" y="1844824"/>
            <a:ext cx="4515291" cy="452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b="1" dirty="0">
                <a:latin typeface="Bahnschrift" panose="020B0502040204020203" pitchFamily="34" charset="0"/>
              </a:rPr>
              <a:t>Mélységi védelem (</a:t>
            </a:r>
            <a:r>
              <a:rPr lang="hu-HU" b="1" dirty="0" err="1">
                <a:latin typeface="Bahnschrift" panose="020B0502040204020203" pitchFamily="34" charset="0"/>
              </a:rPr>
              <a:t>Defense</a:t>
            </a:r>
            <a:r>
              <a:rPr lang="hu-HU" b="1" dirty="0">
                <a:latin typeface="Bahnschrift" panose="020B0502040204020203" pitchFamily="34" charset="0"/>
              </a:rPr>
              <a:t> in </a:t>
            </a:r>
            <a:r>
              <a:rPr lang="hu-HU" b="1" dirty="0" err="1">
                <a:latin typeface="Bahnschrift" panose="020B0502040204020203" pitchFamily="34" charset="0"/>
              </a:rPr>
              <a:t>Depth</a:t>
            </a:r>
            <a:r>
              <a:rPr lang="hu-HU" b="1" dirty="0">
                <a:latin typeface="Bahnschrift" panose="020B0502040204020203" pitchFamily="34" charset="0"/>
              </a:rPr>
              <a:t>)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4" name="Tartalom helye 13"/>
          <p:cNvSpPr>
            <a:spLocks noGrp="1"/>
          </p:cNvSpPr>
          <p:nvPr>
            <p:ph idx="1"/>
          </p:nvPr>
        </p:nvSpPr>
        <p:spPr>
          <a:xfrm>
            <a:off x="1218883" y="1701797"/>
            <a:ext cx="5091553" cy="4462272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buNone/>
            </a:pPr>
            <a:r>
              <a:rPr lang="hu-HU" sz="2600" b="1" dirty="0">
                <a:latin typeface="Bahnschrift" panose="020B0502040204020203" pitchFamily="34" charset="0"/>
              </a:rPr>
              <a:t>Lényeg:</a:t>
            </a:r>
            <a:r>
              <a:rPr lang="hu-HU" sz="2600" dirty="0">
                <a:latin typeface="Bahnschrift" panose="020B0502040204020203" pitchFamily="34" charset="0"/>
              </a:rPr>
              <a:t> Többrétegű biztonság a hálózat minden pontján.</a:t>
            </a:r>
          </a:p>
          <a:p>
            <a:pPr marL="0" indent="0">
              <a:buNone/>
            </a:pPr>
            <a:r>
              <a:rPr lang="hu-HU" b="1" dirty="0">
                <a:latin typeface="Bahnschrift" panose="020B0502040204020203" pitchFamily="34" charset="0"/>
              </a:rPr>
              <a:t>Fő elvek:</a:t>
            </a:r>
            <a:endParaRPr lang="hu-HU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b="1" dirty="0">
                <a:latin typeface="Bahnschrift" panose="020B0502040204020203" pitchFamily="34" charset="0"/>
              </a:rPr>
              <a:t>Minden eszközt védeni kell</a:t>
            </a:r>
            <a:r>
              <a:rPr lang="hu-HU" sz="2400" dirty="0">
                <a:latin typeface="Bahnschrift" panose="020B0502040204020203" pitchFamily="34" charset="0"/>
              </a:rPr>
              <a:t> – routerek, </a:t>
            </a:r>
            <a:r>
              <a:rPr lang="hu-HU" sz="2400" dirty="0" err="1">
                <a:latin typeface="Bahnschrift" panose="020B0502040204020203" pitchFamily="34" charset="0"/>
              </a:rPr>
              <a:t>switchek</a:t>
            </a:r>
            <a:r>
              <a:rPr lang="hu-HU" sz="2400" dirty="0">
                <a:latin typeface="Bahnschrift" panose="020B0502040204020203" pitchFamily="34" charset="0"/>
              </a:rPr>
              <a:t>, szerverek, munkaállomások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b="1" dirty="0">
                <a:latin typeface="Bahnschrift" panose="020B0502040204020203" pitchFamily="34" charset="0"/>
              </a:rPr>
              <a:t>Réteges megközelítés</a:t>
            </a:r>
            <a:r>
              <a:rPr lang="hu-HU" sz="2400" dirty="0">
                <a:latin typeface="Bahnschrift" panose="020B0502040204020203" pitchFamily="34" charset="0"/>
              </a:rPr>
              <a:t> – több biztonsági szint együttműködése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b="1" dirty="0">
                <a:latin typeface="Bahnschrift" panose="020B0502040204020203" pitchFamily="34" charset="0"/>
              </a:rPr>
              <a:t>Meg kell erősíteni az eszközöket</a:t>
            </a:r>
            <a:r>
              <a:rPr lang="hu-HU" sz="2400" dirty="0">
                <a:latin typeface="Bahnschrift" panose="020B0502040204020203" pitchFamily="34" charset="0"/>
              </a:rPr>
              <a:t> – akadályozzuk meg a jogosulatlan hozzáférést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b="1" dirty="0">
                <a:latin typeface="Bahnschrift" panose="020B0502040204020203" pitchFamily="34" charset="0"/>
              </a:rPr>
              <a:t>Adatvédelem minden kapcsolaton</a:t>
            </a:r>
            <a:r>
              <a:rPr lang="hu-HU" sz="2400" dirty="0">
                <a:latin typeface="Bahnschrift" panose="020B0502040204020203" pitchFamily="34" charset="0"/>
              </a:rPr>
              <a:t> – belső és külső forgalom titkosítása (pl. fióktelepek, távmunka)</a:t>
            </a:r>
          </a:p>
          <a:p>
            <a:pPr marL="0" indent="0">
              <a:buNone/>
            </a:pPr>
            <a:endParaRPr lang="hu-HU" sz="1200" dirty="0">
              <a:latin typeface="Bahnschrift" panose="020B0502040204020203" pitchFamily="3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1B873F3-62C3-4CC4-BF6B-2EAB77CF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36" y="1701797"/>
            <a:ext cx="5446376" cy="44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7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b="1" dirty="0">
                <a:latin typeface="Bahnschrift" panose="020B0502040204020203" pitchFamily="34" charset="0"/>
              </a:rPr>
              <a:t>Tűzfalak szerepe és </a:t>
            </a:r>
            <a:r>
              <a:rPr lang="hu-HU" b="1" dirty="0" err="1">
                <a:latin typeface="Bahnschrift" panose="020B0502040204020203" pitchFamily="34" charset="0"/>
              </a:rPr>
              <a:t>korlátai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4" name="Tartalom helye 13"/>
          <p:cNvSpPr>
            <a:spLocks noGrp="1"/>
          </p:cNvSpPr>
          <p:nvPr>
            <p:ph idx="1"/>
          </p:nvPr>
        </p:nvSpPr>
        <p:spPr>
          <a:xfrm>
            <a:off x="1218883" y="1951931"/>
            <a:ext cx="5091553" cy="352740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hu-HU" sz="2600" b="1" dirty="0">
                <a:latin typeface="Bahnschrift" panose="020B0502040204020203" pitchFamily="34" charset="0"/>
              </a:rPr>
              <a:t>Mit csinál a tűzfal?</a:t>
            </a:r>
            <a:br>
              <a:rPr lang="hu-HU" sz="2600" b="1" dirty="0">
                <a:latin typeface="Bahnschrift" panose="020B0502040204020203" pitchFamily="34" charset="0"/>
              </a:rPr>
            </a:br>
            <a:r>
              <a:rPr lang="hu-HU" sz="1800" dirty="0">
                <a:latin typeface="Bahnschrift" panose="020B0502040204020203" pitchFamily="34" charset="0"/>
              </a:rPr>
              <a:t>Ellenáll a hálózati támadásoknak. Egyetlen átjárási pont a belső és külső hálózat között. Kényszeríti a hozzáférési szabályokat.</a:t>
            </a:r>
          </a:p>
          <a:p>
            <a:pPr marL="0" indent="0">
              <a:buNone/>
            </a:pPr>
            <a:r>
              <a:rPr lang="hu-HU" b="1" dirty="0">
                <a:latin typeface="Bahnschrift" panose="020B0502040204020203" pitchFamily="34" charset="0"/>
              </a:rPr>
              <a:t>Előnyei:</a:t>
            </a:r>
          </a:p>
          <a:p>
            <a:r>
              <a:rPr lang="hu-HU" sz="1800" dirty="0">
                <a:latin typeface="Bahnschrift" panose="020B0502040204020203" pitchFamily="34" charset="0"/>
              </a:rPr>
              <a:t>Védi az érzékeny erőforrásokat</a:t>
            </a:r>
          </a:p>
          <a:p>
            <a:r>
              <a:rPr lang="hu-HU" sz="1800" dirty="0">
                <a:latin typeface="Bahnschrift" panose="020B0502040204020203" pitchFamily="34" charset="0"/>
              </a:rPr>
              <a:t>Tisztítja a protokollforgalmat</a:t>
            </a:r>
          </a:p>
          <a:p>
            <a:r>
              <a:rPr lang="hu-HU" sz="1800" dirty="0">
                <a:latin typeface="Bahnschrift" panose="020B0502040204020203" pitchFamily="34" charset="0"/>
              </a:rPr>
              <a:t>Blokkolja a rosszindulatú adatokat</a:t>
            </a:r>
            <a:endParaRPr lang="hu-HU" dirty="0">
              <a:latin typeface="Bahnschrift" panose="020B0502040204020203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5B8078E-52F6-4F67-9D36-84BA55A91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460" y="1628800"/>
            <a:ext cx="5244075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5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>
          <a:xfrm>
            <a:off x="606814" y="739208"/>
            <a:ext cx="5595609" cy="1223963"/>
          </a:xfrm>
        </p:spPr>
        <p:txBody>
          <a:bodyPr rtlCol="0"/>
          <a:lstStyle/>
          <a:p>
            <a:pPr algn="ctr" rtl="0"/>
            <a:r>
              <a:rPr lang="hu-HU" b="1" dirty="0">
                <a:latin typeface="Bahnschrift" panose="020B0502040204020203" pitchFamily="34" charset="0"/>
              </a:rPr>
              <a:t>IPS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4" name="Tartalom helye 13"/>
          <p:cNvSpPr>
            <a:spLocks noGrp="1"/>
          </p:cNvSpPr>
          <p:nvPr>
            <p:ph idx="1"/>
          </p:nvPr>
        </p:nvSpPr>
        <p:spPr>
          <a:xfrm>
            <a:off x="858843" y="1963171"/>
            <a:ext cx="5091553" cy="3527403"/>
          </a:xfrm>
        </p:spPr>
        <p:txBody>
          <a:bodyPr rtlCol="0">
            <a:normAutofit fontScale="77500" lnSpcReduction="20000"/>
          </a:bodyPr>
          <a:lstStyle/>
          <a:p>
            <a:pPr marL="0" indent="0" algn="ctr">
              <a:buNone/>
            </a:pPr>
            <a:r>
              <a:rPr lang="hu-HU" dirty="0">
                <a:latin typeface="Bahnschrift" panose="020B0502040204020203" pitchFamily="34" charset="0"/>
              </a:rPr>
              <a:t>(</a:t>
            </a:r>
            <a:r>
              <a:rPr lang="hu-HU" dirty="0" err="1">
                <a:latin typeface="Bahnschrift" panose="020B0502040204020203" pitchFamily="34" charset="0"/>
              </a:rPr>
              <a:t>Intrusion</a:t>
            </a:r>
            <a:r>
              <a:rPr lang="hu-HU" dirty="0">
                <a:latin typeface="Bahnschrift" panose="020B0502040204020203" pitchFamily="34" charset="0"/>
              </a:rPr>
              <a:t> </a:t>
            </a:r>
            <a:r>
              <a:rPr lang="hu-HU" dirty="0" err="1">
                <a:latin typeface="Bahnschrift" panose="020B0502040204020203" pitchFamily="34" charset="0"/>
              </a:rPr>
              <a:t>Prevention</a:t>
            </a:r>
            <a:r>
              <a:rPr lang="hu-HU" dirty="0">
                <a:latin typeface="Bahnschrift" panose="020B0502040204020203" pitchFamily="34" charset="0"/>
              </a:rPr>
              <a:t> System)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hu-HU" dirty="0">
                <a:latin typeface="Bahnschrift" panose="020B0502040204020203" pitchFamily="34" charset="0"/>
              </a:rPr>
              <a:t>Jól méretezhető behatolásmegelőző rendszer.</a:t>
            </a:r>
          </a:p>
          <a:p>
            <a:pPr marL="0" indent="0" algn="ctr">
              <a:lnSpc>
                <a:spcPct val="110000"/>
              </a:lnSpc>
              <a:buNone/>
            </a:pPr>
            <a:endParaRPr lang="hu-HU" dirty="0">
              <a:latin typeface="Bahnschrift" panose="020B0502040204020203" pitchFamily="34" charset="0"/>
            </a:endParaRPr>
          </a:p>
          <a:p>
            <a:pPr marL="0" indent="0" algn="ctr">
              <a:buNone/>
            </a:pPr>
            <a:r>
              <a:rPr lang="hu-HU" sz="4600" b="1" dirty="0">
                <a:latin typeface="Bahnschrift" panose="020B0502040204020203" pitchFamily="34" charset="0"/>
              </a:rPr>
              <a:t>IDS</a:t>
            </a:r>
          </a:p>
          <a:p>
            <a:pPr marL="0" indent="0" algn="ctr">
              <a:buNone/>
            </a:pPr>
            <a:r>
              <a:rPr lang="hu-HU" dirty="0">
                <a:latin typeface="Bahnschrift" panose="020B0502040204020203" pitchFamily="34" charset="0"/>
              </a:rPr>
              <a:t>(</a:t>
            </a:r>
            <a:r>
              <a:rPr lang="hu-HU" dirty="0" err="1">
                <a:latin typeface="Bahnschrift" panose="020B0502040204020203" pitchFamily="34" charset="0"/>
              </a:rPr>
              <a:t>Intrusion</a:t>
            </a:r>
            <a:r>
              <a:rPr lang="hu-HU" dirty="0">
                <a:latin typeface="Bahnschrift" panose="020B0502040204020203" pitchFamily="34" charset="0"/>
              </a:rPr>
              <a:t> </a:t>
            </a:r>
            <a:r>
              <a:rPr lang="hu-HU" dirty="0" err="1">
                <a:latin typeface="Bahnschrift" panose="020B0502040204020203" pitchFamily="34" charset="0"/>
              </a:rPr>
              <a:t>Detection</a:t>
            </a:r>
            <a:r>
              <a:rPr lang="hu-HU" dirty="0">
                <a:latin typeface="Bahnschrift" panose="020B0502040204020203" pitchFamily="34" charset="0"/>
              </a:rPr>
              <a:t> System)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hu-HU" dirty="0">
                <a:latin typeface="Bahnschrift" panose="020B0502040204020203" pitchFamily="34" charset="0"/>
              </a:rPr>
              <a:t>Költséghatékony észlelési és megelőzési rendszer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210B3566-C080-4F23-B38E-BC9EBBA4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396" y="764704"/>
            <a:ext cx="5772101" cy="550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77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>
          <a:xfrm>
            <a:off x="606814" y="739208"/>
            <a:ext cx="5595609" cy="1223963"/>
          </a:xfrm>
        </p:spPr>
        <p:txBody>
          <a:bodyPr rtlCol="0"/>
          <a:lstStyle/>
          <a:p>
            <a:pPr algn="ctr" rtl="0"/>
            <a:r>
              <a:rPr lang="en-US" b="1" dirty="0">
                <a:latin typeface="Bahnschrift" panose="020B0502040204020203" pitchFamily="34" charset="0"/>
              </a:rPr>
              <a:t>Cisco Email Security Appliance (ESA)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C6D3B7-C7A4-4409-83F6-32BD970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2276872"/>
            <a:ext cx="3816424" cy="2995289"/>
          </a:xfrm>
        </p:spPr>
        <p:txBody>
          <a:bodyPr>
            <a:noAutofit/>
          </a:bodyPr>
          <a:lstStyle/>
          <a:p>
            <a:r>
              <a:rPr lang="hu-HU" sz="2400" dirty="0"/>
              <a:t>Figyeli az </a:t>
            </a:r>
            <a:r>
              <a:rPr lang="hu-HU" sz="2400" b="1" dirty="0"/>
              <a:t>SMTP-forgalmat</a:t>
            </a:r>
          </a:p>
          <a:p>
            <a:r>
              <a:rPr lang="hu-HU" sz="2400" dirty="0" err="1"/>
              <a:t>Valósidejű</a:t>
            </a:r>
            <a:r>
              <a:rPr lang="hu-HU" sz="2400" dirty="0"/>
              <a:t> frissítések a </a:t>
            </a:r>
            <a:r>
              <a:rPr lang="hu-HU" sz="2400" b="1" dirty="0"/>
              <a:t>Cisco </a:t>
            </a:r>
            <a:r>
              <a:rPr lang="hu-HU" sz="2400" b="1" dirty="0" err="1"/>
              <a:t>Talos</a:t>
            </a:r>
            <a:r>
              <a:rPr lang="hu-HU" sz="2400" dirty="0"/>
              <a:t> rendszertől</a:t>
            </a:r>
          </a:p>
          <a:p>
            <a:r>
              <a:rPr lang="hu-HU" sz="2400" dirty="0"/>
              <a:t>Véd az </a:t>
            </a:r>
            <a:r>
              <a:rPr lang="hu-HU" sz="2400" b="1" dirty="0"/>
              <a:t>adathalászat</a:t>
            </a:r>
            <a:r>
              <a:rPr lang="hu-HU" sz="2400" dirty="0"/>
              <a:t> és </a:t>
            </a:r>
            <a:r>
              <a:rPr lang="hu-HU" sz="2400" b="1" dirty="0"/>
              <a:t>e-mail alapú fenyegetések</a:t>
            </a:r>
            <a:r>
              <a:rPr lang="hu-HU" sz="2400" dirty="0"/>
              <a:t> ellen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74EBC82-3AB2-4498-AD70-0156FD2C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84" y="2204864"/>
            <a:ext cx="6670600" cy="30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82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>
          <a:xfrm>
            <a:off x="606814" y="739208"/>
            <a:ext cx="5595609" cy="1223963"/>
          </a:xfrm>
        </p:spPr>
        <p:txBody>
          <a:bodyPr rtlCol="0"/>
          <a:lstStyle/>
          <a:p>
            <a:pPr algn="ctr" rtl="0"/>
            <a:r>
              <a:rPr lang="en-US" b="1" dirty="0">
                <a:latin typeface="Bahnschrift" panose="020B0502040204020203" pitchFamily="34" charset="0"/>
              </a:rPr>
              <a:t>Cisco Web Security Appliance (WSA)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C6D3B7-C7A4-4409-83F6-32BD970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2276872"/>
            <a:ext cx="4032448" cy="3312368"/>
          </a:xfrm>
        </p:spPr>
        <p:txBody>
          <a:bodyPr>
            <a:noAutofit/>
          </a:bodyPr>
          <a:lstStyle/>
          <a:p>
            <a:r>
              <a:rPr lang="hu-HU" sz="2400" dirty="0"/>
              <a:t>Véd a </a:t>
            </a:r>
            <a:r>
              <a:rPr lang="hu-HU" sz="2400" b="1" dirty="0"/>
              <a:t>webes kártevőktől</a:t>
            </a:r>
            <a:r>
              <a:rPr lang="hu-HU" sz="2400" dirty="0"/>
              <a:t> és veszélyes tartalmaktól</a:t>
            </a:r>
          </a:p>
          <a:p>
            <a:r>
              <a:rPr lang="hu-HU" sz="2400" dirty="0"/>
              <a:t>Szűri és </a:t>
            </a:r>
            <a:r>
              <a:rPr lang="hu-HU" sz="2400" b="1" dirty="0"/>
              <a:t>szabályozza a webhozzáférést</a:t>
            </a:r>
          </a:p>
          <a:p>
            <a:r>
              <a:rPr lang="hu-HU" sz="2400" dirty="0"/>
              <a:t>Képes </a:t>
            </a:r>
            <a:r>
              <a:rPr lang="hu-HU" sz="2400" b="1" dirty="0"/>
              <a:t>URL-szűrésre, titkosításra és jelentéskészítésre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3887413-12E2-4EFC-9577-D54A4036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292" y="2276872"/>
            <a:ext cx="6902578" cy="30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3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>
          <a:xfrm>
            <a:off x="2259986" y="2780928"/>
            <a:ext cx="7668852" cy="972108"/>
          </a:xfrm>
        </p:spPr>
        <p:txBody>
          <a:bodyPr rtlCol="0">
            <a:noAutofit/>
          </a:bodyPr>
          <a:lstStyle/>
          <a:p>
            <a:pPr algn="ctr" rtl="0"/>
            <a:r>
              <a:rPr lang="hu-HU" sz="6000" b="1" dirty="0">
                <a:latin typeface="Bahnschrift" panose="020B0502040204020203" pitchFamily="34" charset="0"/>
              </a:rPr>
              <a:t>Köszi a figyelmet!</a:t>
            </a:r>
            <a:endParaRPr lang="en-US" sz="6000" b="1" dirty="0">
              <a:latin typeface="Bahnschrift" panose="020B0502040204020203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6E24C33-7D09-44EC-9219-B0679CEC64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40" y="3890138"/>
            <a:ext cx="2753544" cy="27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64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ógia (16x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-té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Hármas áramkört ábrázoló bemutató (szélesvásznú)</Template>
  <TotalTime>0</TotalTime>
  <Words>259</Words>
  <Application>Microsoft Office PowerPoint</Application>
  <PresentationFormat>Egyéni</PresentationFormat>
  <Paragraphs>37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Bahnschrift</vt:lpstr>
      <vt:lpstr>Calibri</vt:lpstr>
      <vt:lpstr>Technológia (16x9)</vt:lpstr>
      <vt:lpstr>Bevált hálózatbiztonsági gyakorlatok</vt:lpstr>
      <vt:lpstr>Hálózatbiztonság alapjai – CIA hármas</vt:lpstr>
      <vt:lpstr>Mélységi védelem (Defense in Depth)</vt:lpstr>
      <vt:lpstr>Tűzfalak szerepe és korlátai</vt:lpstr>
      <vt:lpstr>IPS</vt:lpstr>
      <vt:lpstr>Cisco Email Security Appliance (ESA)</vt:lpstr>
      <vt:lpstr>Cisco Web Security Appliance (WSA)</vt:lpstr>
      <vt:lpstr>Köszi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Bevált hálózatbiztonsági gyakorlatok</dc:title>
  <dc:creator>Halász Noel</dc:creator>
  <cp:lastModifiedBy>Halász Noel</cp:lastModifiedBy>
  <cp:revision>19</cp:revision>
  <dcterms:created xsi:type="dcterms:W3CDTF">2025-11-04T07:29:15Z</dcterms:created>
  <dcterms:modified xsi:type="dcterms:W3CDTF">2025-11-04T08:28:15Z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